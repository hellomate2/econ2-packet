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model comparison  |  As of 23 September 2026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top three frontier AI models: Claude Opus 5.5, GPT-6 Astra and Kimi K3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042416"/>
            <a:ext cx="11368735" cy="0"/>
          </a:xfrm>
          <a:prstGeom prst="line">
            <a:avLst/>
          </a:prstGeom>
          <a:noFill/>
          <a:ln w="12700">
            <a:solidFill>
              <a:srgbClr val="041E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2252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35424" y="1257300"/>
            <a:ext cx="137160" cy="13716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36592" y="1252728"/>
            <a:ext cx="7680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 class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32704" y="12573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32704" y="1257300"/>
            <a:ext cx="137160" cy="13716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33872" y="125272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419088" y="12573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1257300"/>
            <a:ext cx="137160" cy="13716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0256" y="1252728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Capable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278624" y="12573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78624" y="1257300"/>
            <a:ext cx="137160" cy="13716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79792" y="1252728"/>
            <a:ext cx="493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155448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" y="1627632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16276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16276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16276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Moonshot AI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504688" y="162763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data point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 vs. Astra unless stated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1480" y="2011680"/>
            <a:ext cx="7470648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24912" y="206654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1480" y="21031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 and code migration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agents, refactors, codebase audits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22092" y="219913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6492" y="21991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6492" y="2199132"/>
            <a:ext cx="173736" cy="17373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50892" y="21991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50892" y="219913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04688" y="20665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 4.0: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57.9%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customer case: 680K lines migrated in &lt;1 day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11480" y="256032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24912" y="261518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1480" y="26517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 and finance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Research, financial modeling, reports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22092" y="274777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36492" y="274777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6492" y="274777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50892" y="274777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50892" y="274777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04688" y="26151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GDPval-AA v2.1: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1,846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1,542 Elo; Humanity's Last Exam: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57.2%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1480" y="310896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24912" y="316382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39312" y="316382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1480" y="320040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 and automation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Desktop, browser, multi-app workflows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22092" y="329641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6492" y="329641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50892" y="329641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50892" y="3296412"/>
            <a:ext cx="173736" cy="17373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04688" y="316382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OSWorld 2.0: 81.8% vs. 72.6%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AutomationBench: 40.0% vs.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41.4%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11480" y="365760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39312" y="371246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11480" y="374904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and creative software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Blender, Unreal Engine 5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022092" y="384505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2092" y="384505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36492" y="384505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50892" y="384505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0892" y="3845052"/>
            <a:ext cx="173736" cy="17373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504688" y="371246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 operates Blender and UE5 directly (OpenAI launch demo)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11480" y="420624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39312" y="426110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11480" y="429768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math and science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Research-level math, lab workflows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022092" y="439369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22092" y="4393692"/>
            <a:ext cx="173736" cy="17373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936492" y="439369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50892" y="439369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50892" y="439369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504688" y="426110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Terminal-Bench-Science: 58.7% vs.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64.6%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FrontierMath Tier 4: Astra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97.6%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11480" y="475488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553712" y="480974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11480" y="48463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High-volume, cost-sensitive work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Classification, extraction, RAG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3022092" y="49423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2092" y="4942332"/>
            <a:ext cx="173736" cy="17373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936492" y="49423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936492" y="4942332"/>
            <a:ext cx="173736" cy="17373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850892" y="494233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504688" y="48097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price, $/1M tokens in/out: K3 </a:t>
            </a:r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$3/$15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Opus 5.5 $4/$20; Astra $10/$50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11480" y="530352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53712" y="535838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11480" y="53949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and data control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On-prem, private cloud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2834640" y="5495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850" dirty="0"/>
          </a:p>
        </p:txBody>
      </p:sp>
      <p:sp>
        <p:nvSpPr>
          <p:cNvPr id="81" name="Text 79"/>
          <p:cNvSpPr txBox="1"/>
          <p:nvPr/>
        </p:nvSpPr>
        <p:spPr>
          <a:xfrm>
            <a:off x="3749040" y="5495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850892" y="549097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504688" y="53583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open-weight model of the three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also on Databricks and Fireworks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585216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29600" y="1225296"/>
            <a:ext cx="3550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8229600" y="155448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326880" y="1627632"/>
            <a:ext cx="817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Sep 2026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10144658" y="1627632"/>
            <a:ext cx="817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Sep 2026</a:t>
            </a:r>
            <a:endParaRPr lang="en-US" sz="950" dirty="0"/>
          </a:p>
        </p:txBody>
      </p:sp>
      <p:sp>
        <p:nvSpPr>
          <p:cNvPr id="89" name="Text 87"/>
          <p:cNvSpPr txBox="1"/>
          <p:nvPr/>
        </p:nvSpPr>
        <p:spPr>
          <a:xfrm>
            <a:off x="10962437" y="1627632"/>
            <a:ext cx="817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 2026</a:t>
            </a:r>
            <a:endParaRPr lang="en-US" sz="950" dirty="0"/>
          </a:p>
        </p:txBody>
      </p:sp>
      <p:sp>
        <p:nvSpPr>
          <p:cNvPr id="90" name="Text 88"/>
          <p:cNvSpPr txBox="1"/>
          <p:nvPr/>
        </p:nvSpPr>
        <p:spPr>
          <a:xfrm>
            <a:off x="8229600" y="16276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229600" y="2011680"/>
            <a:ext cx="3550615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8229600" y="2011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9345168" y="201168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850" dirty="0"/>
          </a:p>
        </p:txBody>
      </p:sp>
      <p:sp>
        <p:nvSpPr>
          <p:cNvPr id="94" name="Text 92"/>
          <p:cNvSpPr txBox="1"/>
          <p:nvPr/>
        </p:nvSpPr>
        <p:spPr>
          <a:xfrm>
            <a:off x="10162946" y="201168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(staged)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10980725" y="201168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weights</a:t>
            </a:r>
            <a:pPr algn="ctr"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8229600" y="228600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053877" y="2322576"/>
            <a:ext cx="634898" cy="2011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($ / 1M tokens)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9345168" y="228600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$4.00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10162946" y="228600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$10.00</a:t>
            </a:r>
            <a:endParaRPr lang="en-US" sz="850" dirty="0"/>
          </a:p>
        </p:txBody>
      </p:sp>
      <p:sp>
        <p:nvSpPr>
          <p:cNvPr id="101" name="Text 99"/>
          <p:cNvSpPr txBox="1"/>
          <p:nvPr/>
        </p:nvSpPr>
        <p:spPr>
          <a:xfrm>
            <a:off x="10980725" y="228600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$3.00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8229600" y="256032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053877" y="2596896"/>
            <a:ext cx="634898" cy="2011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822960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($ / 1M tokens)</a:t>
            </a:r>
            <a:endParaRPr lang="en-US" sz="850" dirty="0"/>
          </a:p>
        </p:txBody>
      </p:sp>
      <p:sp>
        <p:nvSpPr>
          <p:cNvPr id="105" name="Text 103"/>
          <p:cNvSpPr txBox="1"/>
          <p:nvPr/>
        </p:nvSpPr>
        <p:spPr>
          <a:xfrm>
            <a:off x="9345168" y="256032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$20.00</a:t>
            </a:r>
            <a:endParaRPr lang="en-US" sz="850" dirty="0"/>
          </a:p>
        </p:txBody>
      </p:sp>
      <p:sp>
        <p:nvSpPr>
          <p:cNvPr id="106" name="Text 104"/>
          <p:cNvSpPr txBox="1"/>
          <p:nvPr/>
        </p:nvSpPr>
        <p:spPr>
          <a:xfrm>
            <a:off x="10162946" y="256032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$50.00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10980725" y="256032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$15.00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8229600" y="283464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418320" y="2871216"/>
            <a:ext cx="634898" cy="2011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822960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input ($ / 1M)</a:t>
            </a:r>
            <a:endParaRPr lang="en-US" sz="850" dirty="0"/>
          </a:p>
        </p:txBody>
      </p:sp>
      <p:sp>
        <p:nvSpPr>
          <p:cNvPr id="111" name="Text 109"/>
          <p:cNvSpPr txBox="1"/>
          <p:nvPr/>
        </p:nvSpPr>
        <p:spPr>
          <a:xfrm>
            <a:off x="9345168" y="283464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$0.20</a:t>
            </a:r>
            <a:endParaRPr lang="en-US" sz="850" dirty="0"/>
          </a:p>
        </p:txBody>
      </p:sp>
      <p:sp>
        <p:nvSpPr>
          <p:cNvPr id="112" name="Text 110"/>
          <p:cNvSpPr txBox="1"/>
          <p:nvPr/>
        </p:nvSpPr>
        <p:spPr>
          <a:xfrm>
            <a:off x="10162946" y="283464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$1.00</a:t>
            </a:r>
            <a:endParaRPr lang="en-US" sz="850" dirty="0"/>
          </a:p>
        </p:txBody>
      </p:sp>
      <p:sp>
        <p:nvSpPr>
          <p:cNvPr id="113" name="Text 111"/>
          <p:cNvSpPr txBox="1"/>
          <p:nvPr/>
        </p:nvSpPr>
        <p:spPr>
          <a:xfrm>
            <a:off x="10980725" y="283464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8229600" y="310896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236098" y="3145536"/>
            <a:ext cx="634898" cy="2011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822960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(tokens)</a:t>
            </a:r>
            <a:endParaRPr lang="en-US" sz="850" dirty="0"/>
          </a:p>
        </p:txBody>
      </p:sp>
      <p:sp>
        <p:nvSpPr>
          <p:cNvPr id="117" name="Text 115"/>
          <p:cNvSpPr txBox="1"/>
          <p:nvPr/>
        </p:nvSpPr>
        <p:spPr>
          <a:xfrm>
            <a:off x="9345168" y="310896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10162946" y="310896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1.05M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10980725" y="310896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8229600" y="338328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229600" y="3383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pPr indent="0" marL="0">
              <a:buNone/>
            </a:pPr>
            <a:r>
              <a:rPr lang="en-US" sz="8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850" dirty="0"/>
          </a:p>
        </p:txBody>
      </p:sp>
      <p:sp>
        <p:nvSpPr>
          <p:cNvPr id="122" name="Text 120"/>
          <p:cNvSpPr txBox="1"/>
          <p:nvPr/>
        </p:nvSpPr>
        <p:spPr>
          <a:xfrm>
            <a:off x="9345168" y="3383280"/>
            <a:ext cx="7812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estimate</a:t>
            </a:r>
            <a:endParaRPr lang="en-US" sz="850" dirty="0"/>
          </a:p>
        </p:txBody>
      </p:sp>
      <p:sp>
        <p:nvSpPr>
          <p:cNvPr id="123" name="Text 121"/>
          <p:cNvSpPr txBox="1"/>
          <p:nvPr/>
        </p:nvSpPr>
        <p:spPr>
          <a:xfrm>
            <a:off x="10162946" y="3383280"/>
            <a:ext cx="7812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c.5–10T</a:t>
            </a:r>
            <a:endParaRPr lang="en-US" sz="850" dirty="0"/>
          </a:p>
        </p:txBody>
      </p:sp>
      <p:sp>
        <p:nvSpPr>
          <p:cNvPr id="124" name="Text 122"/>
          <p:cNvSpPr txBox="1"/>
          <p:nvPr/>
        </p:nvSpPr>
        <p:spPr>
          <a:xfrm>
            <a:off x="10980725" y="3383280"/>
            <a:ext cx="7812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2.8T MoE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104B active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8229600" y="393192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418320" y="3968496"/>
            <a:ext cx="634898" cy="2011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822960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Intelligence Index</a:t>
            </a:r>
            <a:pPr indent="0" marL="0">
              <a:buNone/>
            </a:pPr>
            <a:r>
              <a:rPr lang="en-US" sz="8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850" dirty="0"/>
          </a:p>
        </p:txBody>
      </p:sp>
      <p:sp>
        <p:nvSpPr>
          <p:cNvPr id="128" name="Text 126"/>
          <p:cNvSpPr txBox="1"/>
          <p:nvPr/>
        </p:nvSpPr>
        <p:spPr>
          <a:xfrm>
            <a:off x="9345168" y="393192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850" dirty="0"/>
          </a:p>
        </p:txBody>
      </p:sp>
      <p:sp>
        <p:nvSpPr>
          <p:cNvPr id="129" name="Text 127"/>
          <p:cNvSpPr txBox="1"/>
          <p:nvPr/>
        </p:nvSpPr>
        <p:spPr>
          <a:xfrm>
            <a:off x="10162946" y="393192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850" dirty="0"/>
          </a:p>
        </p:txBody>
      </p:sp>
      <p:sp>
        <p:nvSpPr>
          <p:cNvPr id="130" name="Text 128"/>
          <p:cNvSpPr txBox="1"/>
          <p:nvPr/>
        </p:nvSpPr>
        <p:spPr>
          <a:xfrm>
            <a:off x="10980725" y="3931920"/>
            <a:ext cx="781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8229600" y="420624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8229600" y="4425696"/>
            <a:ext cx="3550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use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8229600" y="4736592"/>
            <a:ext cx="3550615" cy="11155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8357616" y="4864608"/>
            <a:ext cx="658368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850" dirty="0"/>
          </a:p>
        </p:txBody>
      </p:sp>
      <p:sp>
        <p:nvSpPr>
          <p:cNvPr id="135" name="Text 133"/>
          <p:cNvSpPr txBox="1"/>
          <p:nvPr/>
        </p:nvSpPr>
        <p:spPr>
          <a:xfrm>
            <a:off x="9015984" y="4864608"/>
            <a:ext cx="263621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 coding, agents and analyst work. List price c.60% below Astra.</a:t>
            </a:r>
            <a:endParaRPr lang="en-US" sz="850" dirty="0"/>
          </a:p>
        </p:txBody>
      </p:sp>
      <p:sp>
        <p:nvSpPr>
          <p:cNvPr id="136" name="Text 134"/>
          <p:cNvSpPr txBox="1"/>
          <p:nvPr/>
        </p:nvSpPr>
        <p:spPr>
          <a:xfrm>
            <a:off x="8357616" y="5151120"/>
            <a:ext cx="658368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9015984" y="5151120"/>
            <a:ext cx="263621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use, 3D tools and frontier math. Staged access; OpenAI rates its cyber capability "Critical".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357616" y="5437632"/>
            <a:ext cx="658368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K3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9015984" y="5437632"/>
            <a:ext cx="263621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and high-volume work. Avoid Moonshot's own API for regulated data.</a:t>
            </a:r>
            <a:endParaRPr lang="en-US" sz="850" dirty="0"/>
          </a:p>
        </p:txBody>
      </p:sp>
      <p:sp>
        <p:nvSpPr>
          <p:cNvPr id="140" name="Text 138"/>
          <p:cNvSpPr txBox="1"/>
          <p:nvPr/>
        </p:nvSpPr>
        <p:spPr>
          <a:xfrm>
            <a:off x="411480" y="596188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Ratings are analyst judgment based on the data shown; scores reported by different vendors are not always like-for-like. Shading marks the leader in each row. Prices are list API rates.</a:t>
            </a:r>
            <a:endParaRPr lang="en-US" sz="700" dirty="0"/>
          </a:p>
          <a:p>
            <a:pPr indent="0" marL="0"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Opus 5.5 vs. Astra figures as reported by Anthropic (22 Sep 2026); not independently replicated.  </a:t>
            </a:r>
            <a:pPr indent="0" marL="0"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and OpenAI report OSWorld 2.0 under different test settings.</a:t>
            </a:r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Weights released 27 Jul 2026 under the Kimi K3 License (modified open license; model-as-a-service businesses above $20M annual revenue need a separate agreement).</a:t>
            </a:r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Analysis Intelligence Index v4.3 (Sep 2026). No like-for-like K3 scores are published for most tasks above, so K3 ratings rely mainly on this index.</a:t>
            </a:r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and OpenAI do not disclose model size. Third-party estimates for Astra range from c.5T to 10T total parameters and are unverified.</a:t>
            </a:r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"Introducing Claude Opus 5.5" (22 Sep 2026); OpenAI, "GPT-6 Astra" (3 Sep 2026); Moonshot AI, "Kimi K3 Tech Blog" (16 Jul 2026); Artificial Analysis; Databricks; Fireworks AI.</a:t>
            </a:r>
            <a:endParaRPr lang="en-US" sz="700" dirty="0"/>
          </a:p>
        </p:txBody>
      </p:sp>
      <p:sp>
        <p:nvSpPr>
          <p:cNvPr id="141" name="Text 139"/>
          <p:cNvSpPr txBox="1"/>
          <p:nvPr/>
        </p:nvSpPr>
        <p:spPr>
          <a:xfrm>
            <a:off x="11505895" y="649224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comparison, Sep 2026</dc:title>
  <dc:subject>PptxGenJS Presentation</dc:subject>
  <dc:creator>PptxGenJS</dc:creator>
  <cp:lastModifiedBy>PptxGenJS</cp:lastModifiedBy>
  <cp:revision>1</cp:revision>
  <dcterms:created xsi:type="dcterms:W3CDTF">2026-09-23T17:37:21Z</dcterms:created>
  <dcterms:modified xsi:type="dcterms:W3CDTF">2026-09-23T17:37:21Z</dcterms:modified>
</cp:coreProperties>
</file>