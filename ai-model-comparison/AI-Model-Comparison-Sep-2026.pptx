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 of the Top Three Frontier AI Models</a:t>
            </a: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EB6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Opus 5.5 leads on coding and analyst work, Astra on 3D tools and hard science, and Kimi K3 on cost and self-hosting</a:t>
            </a:r>
            <a:endParaRPr lang="en-US" sz="1350" dirty="0"/>
          </a:p>
        </p:txBody>
      </p:sp>
      <p:sp>
        <p:nvSpPr>
          <p:cNvPr id="4" name="Shape 3"/>
          <p:cNvSpPr/>
          <p:nvPr/>
        </p:nvSpPr>
        <p:spPr>
          <a:xfrm>
            <a:off x="365760" y="1481328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444752"/>
            <a:ext cx="3685032" cy="3364992"/>
          </a:xfrm>
          <a:prstGeom prst="rect">
            <a:avLst/>
          </a:prstGeom>
        </p:spPr>
      </p:pic>
      <p:sp>
        <p:nvSpPr>
          <p:cNvPr id="6" name="Shape 5"/>
          <p:cNvSpPr/>
          <p:nvPr/>
        </p:nvSpPr>
        <p:spPr>
          <a:xfrm>
            <a:off x="640080" y="1755648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Claude Opus 5.5</a:t>
            </a:r>
            <a:endParaRPr lang="en-US" sz="1700"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20848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Anthropic  |  Released Sep 22, 2026</a:t>
            </a:r>
            <a:endParaRPr lang="en-US" sz="1000" dirty="0"/>
          </a:p>
        </p:txBody>
      </p:sp>
      <p:sp>
        <p:nvSpPr>
          <p:cNvPr id="10" name="Straight Connector 9"/>
          <p:cNvSpPr/>
          <p:nvPr/>
        </p:nvSpPr>
        <p:spPr>
          <a:xfrm>
            <a:off x="640080" y="2505456"/>
            <a:ext cx="3063240" cy="0"/>
          </a:xfrm>
          <a:prstGeom prst="line">
            <a:avLst/>
          </a:prstGeom>
          <a:noFill/>
          <a:ln w="9525">
            <a:solidFill>
              <a:srgbClr val="34407E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621792" y="2670048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coding, agent workflows and analyst work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like research and modeling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Scored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66.4% on Terminal-Bench 4.0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vs. 57.9% for Astra; one customer migrated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680K lines of code in a day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Costs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 / $20 per 1M tokens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about 60% less than Astra</a:t>
            </a:r>
            <a:endParaRPr lang="en-US" sz="1200" dirty="0"/>
          </a:p>
        </p:txBody>
      </p:sp>
      <p:sp>
        <p:nvSpPr>
          <p:cNvPr id="12" name="Shape 11"/>
          <p:cNvSpPr/>
          <p:nvPr/>
        </p:nvSpPr>
        <p:spPr>
          <a:xfrm>
            <a:off x="4270248" y="1481328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444752"/>
            <a:ext cx="3685032" cy="3364992"/>
          </a:xfrm>
          <a:prstGeom prst="rect">
            <a:avLst/>
          </a:prstGeom>
        </p:spPr>
      </p:pic>
      <p:sp>
        <p:nvSpPr>
          <p:cNvPr id="14" name="Shape 13"/>
          <p:cNvSpPr/>
          <p:nvPr/>
        </p:nvSpPr>
        <p:spPr>
          <a:xfrm>
            <a:off x="4544568" y="1755648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1847088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76088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GPT-6 Astra</a:t>
            </a:r>
            <a:endParaRPr lang="en-US" sz="1700" dirty="0"/>
          </a:p>
        </p:txBody>
      </p:sp>
      <p:sp>
        <p:nvSpPr>
          <p:cNvPr id="17" name="TextBox 16"/>
          <p:cNvSpPr txBox="1"/>
          <p:nvPr/>
        </p:nvSpPr>
        <p:spPr>
          <a:xfrm>
            <a:off x="5276088" y="20848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OpenAI  |  Released Sep 3, 2026</a:t>
            </a:r>
            <a:endParaRPr lang="en-US" sz="1000" dirty="0"/>
          </a:p>
        </p:txBody>
      </p:sp>
      <p:sp>
        <p:nvSpPr>
          <p:cNvPr id="18" name="Straight Connector 17"/>
          <p:cNvSpPr/>
          <p:nvPr/>
        </p:nvSpPr>
        <p:spPr>
          <a:xfrm>
            <a:off x="4544568" y="2505456"/>
            <a:ext cx="3063240" cy="0"/>
          </a:xfrm>
          <a:prstGeom prst="line">
            <a:avLst/>
          </a:prstGeom>
          <a:noFill/>
          <a:ln w="9525">
            <a:solidFill>
              <a:srgbClr val="34407E"/>
            </a:solidFill>
            <a:prstDash val="solid"/>
          </a:ln>
        </p:spPr>
      </p:sp>
      <p:sp>
        <p:nvSpPr>
          <p:cNvPr id="19" name="TextBox 18"/>
          <p:cNvSpPr txBox="1"/>
          <p:nvPr/>
        </p:nvSpPr>
        <p:spPr>
          <a:xfrm>
            <a:off x="4526280" y="2670048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desktop software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3D tools like Blender and UE5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hard math and science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Scored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97.6% on FrontierMath Tier 4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72.6% on OSWorld 2.0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expensive at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$10 / $50 per 1M tokens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access still rolling out in stages</a:t>
            </a:r>
            <a:endParaRPr lang="en-US" sz="1200" dirty="0"/>
          </a:p>
        </p:txBody>
      </p:sp>
      <p:sp>
        <p:nvSpPr>
          <p:cNvPr id="20" name="Shape 19"/>
          <p:cNvSpPr/>
          <p:nvPr/>
        </p:nvSpPr>
        <p:spPr>
          <a:xfrm>
            <a:off x="8174736" y="1481328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444752"/>
            <a:ext cx="3685032" cy="3364992"/>
          </a:xfrm>
          <a:prstGeom prst="rect">
            <a:avLst/>
          </a:prstGeom>
        </p:spPr>
      </p:pic>
      <p:sp>
        <p:nvSpPr>
          <p:cNvPr id="22" name="Shape 21"/>
          <p:cNvSpPr/>
          <p:nvPr/>
        </p:nvSpPr>
        <p:spPr>
          <a:xfrm>
            <a:off x="8449056" y="1755648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000000"/>
          </a:solidFill>
          <a:ln w="9525">
            <a:solidFill>
              <a:srgbClr val="4A558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0496" y="184708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0576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Kimi K3</a:t>
            </a:r>
            <a:endParaRPr lang="en-US" sz="1700" dirty="0"/>
          </a:p>
        </p:txBody>
      </p:sp>
      <p:sp>
        <p:nvSpPr>
          <p:cNvPr id="25" name="TextBox 24"/>
          <p:cNvSpPr txBox="1"/>
          <p:nvPr/>
        </p:nvSpPr>
        <p:spPr>
          <a:xfrm>
            <a:off x="9180576" y="20848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EB6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Moonshot AI  |  Released Jul 16, 2026</a:t>
            </a:r>
            <a:endParaRPr lang="en-US" sz="1000" dirty="0"/>
          </a:p>
        </p:txBody>
      </p:sp>
      <p:sp>
        <p:nvSpPr>
          <p:cNvPr id="26" name="Straight Connector 25"/>
          <p:cNvSpPr/>
          <p:nvPr/>
        </p:nvSpPr>
        <p:spPr>
          <a:xfrm>
            <a:off x="8449056" y="2505456"/>
            <a:ext cx="3063240" cy="0"/>
          </a:xfrm>
          <a:prstGeom prst="line">
            <a:avLst/>
          </a:prstGeom>
          <a:noFill/>
          <a:ln w="9525">
            <a:solidFill>
              <a:srgbClr val="34407E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8430768" y="2670048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for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high-volume, low-cost work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anything that must be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self-hosted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open-weight model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the three, with 2.8T parameters</a:t>
            </a:r>
            <a:endParaRPr lang="en-US" sz="1200" dirty="0"/>
          </a:p>
          <a:p>
            <a:pPr marL="190500" indent="-1905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Cheapest at </a:t>
            </a:r>
            <a:r>
              <a:rPr lang="en-US" sz="120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 / $15 per 1M tokens</a:t>
            </a: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but scores 44 vs. 58 for Opus on the Artificial Analysis index</a:t>
            </a:r>
            <a:endParaRPr lang="en-US" sz="1200" dirty="0"/>
          </a:p>
        </p:txBody>
      </p:sp>
      <p:sp>
        <p:nvSpPr>
          <p:cNvPr id="28" name="Shape 27"/>
          <p:cNvSpPr/>
          <p:nvPr/>
        </p:nvSpPr>
        <p:spPr>
          <a:xfrm>
            <a:off x="365760" y="5138928"/>
            <a:ext cx="11457432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" y="5102352"/>
            <a:ext cx="11530584" cy="13350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5321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D6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640080" y="56418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Opus 5.5</a:t>
            </a: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should be the default for most work, given its lead on coding and knowledge-work benchmarks and its </a:t>
            </a:r>
            <a:r>
              <a:rPr lang="en-US" sz="125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lower price than Astra</a:t>
            </a:r>
            <a:endParaRPr lang="en-US" sz="1250" dirty="0"/>
          </a:p>
          <a:p>
            <a:pPr marL="190500" indent="-1905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Astra</a:t>
            </a: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worth the premium for specialist work, while </a:t>
            </a:r>
            <a:r>
              <a:rPr lang="en-US" sz="1250" dirty="0">
                <a:solidFill>
                  <a:srgbClr val="6FD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Kimi K3</a:t>
            </a: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fits teams that need to keep data in-house or cut costs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 AI Models</dc:title>
  <dc:subject/>
  <dc:creator/>
  <cp:lastModifiedBy/>
  <cp:revision>1</cp:revision>
  <dcterms:created xsi:type="dcterms:W3CDTF">2026-09-23T22:42:02Z</dcterms:created>
  <dcterms:modified xsi:type="dcterms:W3CDTF">2026-09-23T22:42:02Z</dcterms:modified>
</cp:coreProperties>
</file>