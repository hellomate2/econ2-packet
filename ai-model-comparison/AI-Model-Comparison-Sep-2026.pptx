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31089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AI model comparison  |  As of 23 September 2026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of the top three frontier AI models: Claude Opus 5.5, GPT-6 Astra and Kimi K3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042416"/>
            <a:ext cx="11368735" cy="0"/>
          </a:xfrm>
          <a:prstGeom prst="line">
            <a:avLst/>
          </a:prstGeom>
          <a:noFill/>
          <a:ln w="12700">
            <a:solidFill>
              <a:srgbClr val="041E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12252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fit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35424" y="1257300"/>
            <a:ext cx="137160" cy="13716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736592" y="1252728"/>
            <a:ext cx="76809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in class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32704" y="125730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32704" y="1257300"/>
            <a:ext cx="137160" cy="13716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833872" y="1252728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419088" y="125730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9088" y="1257300"/>
            <a:ext cx="137160" cy="13716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0256" y="1252728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Capable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278624" y="125730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78624" y="1257300"/>
            <a:ext cx="137160" cy="13716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79792" y="1252728"/>
            <a:ext cx="493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1554480"/>
            <a:ext cx="7470648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1480" y="1627632"/>
            <a:ext cx="2240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651760" y="16276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16276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480560" y="16276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K3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Moonshot AI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504688" y="1627632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data point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 vs. Astra unless stated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11480" y="2011680"/>
            <a:ext cx="7470648" cy="0"/>
          </a:xfrm>
          <a:prstGeom prst="line">
            <a:avLst/>
          </a:prstGeom>
          <a:noFill/>
          <a:ln w="9525">
            <a:solidFill>
              <a:srgbClr val="C9D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24912" y="2066544"/>
            <a:ext cx="768096" cy="438912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11480" y="210312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coding and code migration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agents, refactors, codebase audits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022092" y="2199132"/>
            <a:ext cx="173736" cy="173736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36492" y="219913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36492" y="2199132"/>
            <a:ext cx="173736" cy="173736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50892" y="219913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50892" y="2199132"/>
            <a:ext cx="173736" cy="173736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504688" y="206654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Terminal-Bench 4.0: 66.4% vs. 57.9%</a:t>
            </a:r>
            <a:pPr indent="0" marL="0">
              <a:buNone/>
            </a:pPr>
            <a:r>
              <a:rPr lang="en-US" sz="85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customer case: 680K-line migration in &lt;1 day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11480" y="2560320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24912" y="2615184"/>
            <a:ext cx="768096" cy="438912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11480" y="265176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work and finance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Research, financial modeling, reports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022092" y="2747772"/>
            <a:ext cx="173736" cy="173736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936492" y="274777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36492" y="2747772"/>
            <a:ext cx="173736" cy="173736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50892" y="274777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50892" y="2747772"/>
            <a:ext cx="173736" cy="173736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504688" y="261518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GDPval-AA v2.1: 1,846 vs. 1,542 Elo; Humanity's Last Exam: 67.7% vs. 57.2%</a:t>
            </a:r>
            <a:pPr indent="0" marL="0">
              <a:buNone/>
            </a:pPr>
            <a:r>
              <a:rPr lang="en-US" sz="85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1480" y="3108960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724912" y="3163824"/>
            <a:ext cx="768096" cy="438912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39312" y="3163824"/>
            <a:ext cx="768096" cy="438912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11480" y="320040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use and automation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Desktop, browser, multi-app workflows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022092" y="3296412"/>
            <a:ext cx="173736" cy="173736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36492" y="3296412"/>
            <a:ext cx="173736" cy="173736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50892" y="329641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50892" y="3296412"/>
            <a:ext cx="173736" cy="17373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504688" y="316382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OSWorld 2.0: 81.8% vs. 72.6%</a:t>
            </a:r>
            <a:pPr indent="0" marL="0">
              <a:buNone/>
            </a:pPr>
            <a:r>
              <a:rPr lang="en-US" sz="85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AutomationBench: 40.0% vs. 41.4%</a:t>
            </a:r>
            <a:pPr indent="0" marL="0">
              <a:buNone/>
            </a:pPr>
            <a:r>
              <a:rPr lang="en-US" sz="85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11480" y="3657600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39312" y="3712464"/>
            <a:ext cx="768096" cy="438912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11480" y="374904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and creative software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Blender, Unreal Engine 5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022092" y="384505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022092" y="3845052"/>
            <a:ext cx="173736" cy="173736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36492" y="3845052"/>
            <a:ext cx="173736" cy="173736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50892" y="384505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0892" y="3845052"/>
            <a:ext cx="173736" cy="17373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504688" y="371246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Astra operates Blender and UE5 directly (OpenAI launch demo)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11480" y="4206240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39312" y="4261104"/>
            <a:ext cx="768096" cy="438912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11480" y="429768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math and science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Research-level math, lab workflows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022092" y="439369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022092" y="4393692"/>
            <a:ext cx="173736" cy="173736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936492" y="4393692"/>
            <a:ext cx="173736" cy="173736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50892" y="439369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850892" y="4393692"/>
            <a:ext cx="173736" cy="173736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504688" y="426110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Terminal-Bench-Science: 58.7% vs. 64.6%</a:t>
            </a:r>
            <a:pPr indent="0" marL="0">
              <a:buNone/>
            </a:pPr>
            <a:r>
              <a:rPr lang="en-US" sz="85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FrontierMath Tier 4: Astra 97.6%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11480" y="4754880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553712" y="4809744"/>
            <a:ext cx="768096" cy="438912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411480" y="484632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High-volume, cost-sensitive work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Classification, extraction, RAG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3022092" y="494233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022092" y="4942332"/>
            <a:ext cx="173736" cy="173736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936492" y="4942332"/>
            <a:ext cx="173736" cy="1737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936492" y="4942332"/>
            <a:ext cx="173736" cy="17373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850892" y="4942332"/>
            <a:ext cx="173736" cy="173736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504688" y="480974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price, $/1M tokens in/out: K3 $3/$15; Opus 5.5 $4/$20; Astra $10/$50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411480" y="5303520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53712" y="5358384"/>
            <a:ext cx="768096" cy="438912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11480" y="539496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Self-hosting and data control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On-prem, private cloud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2834640" y="549554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850" dirty="0"/>
          </a:p>
        </p:txBody>
      </p:sp>
      <p:sp>
        <p:nvSpPr>
          <p:cNvPr id="81" name="Text 79"/>
          <p:cNvSpPr txBox="1"/>
          <p:nvPr/>
        </p:nvSpPr>
        <p:spPr>
          <a:xfrm>
            <a:off x="3749040" y="549554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850892" y="5490972"/>
            <a:ext cx="173736" cy="173736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5504688" y="535838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open-weight model of the three</a:t>
            </a:r>
            <a:pPr indent="0" marL="0">
              <a:buNone/>
            </a:pPr>
            <a:r>
              <a:rPr lang="en-US" sz="85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also on Databricks and Fireworks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5852160"/>
            <a:ext cx="7470648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8229600" y="1225296"/>
            <a:ext cx="3550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Specifications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8229600" y="1554480"/>
            <a:ext cx="3550615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9326880" y="1627632"/>
            <a:ext cx="8177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10144658" y="1627632"/>
            <a:ext cx="8177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10962437" y="1627632"/>
            <a:ext cx="8177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K3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8229600" y="1865376"/>
            <a:ext cx="3550615" cy="0"/>
          </a:xfrm>
          <a:prstGeom prst="line">
            <a:avLst/>
          </a:prstGeom>
          <a:noFill/>
          <a:ln w="9525">
            <a:solidFill>
              <a:srgbClr val="C9D0D9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8229600" y="1865376"/>
            <a:ext cx="109728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Released</a:t>
            </a:r>
            <a:endParaRPr lang="en-US" sz="850" dirty="0"/>
          </a:p>
        </p:txBody>
      </p:sp>
      <p:sp>
        <p:nvSpPr>
          <p:cNvPr id="92" name="Text 90"/>
          <p:cNvSpPr txBox="1"/>
          <p:nvPr/>
        </p:nvSpPr>
        <p:spPr>
          <a:xfrm>
            <a:off x="9345168" y="1865376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Sep 2026</a:t>
            </a:r>
            <a:endParaRPr lang="en-US" sz="850" dirty="0"/>
          </a:p>
        </p:txBody>
      </p:sp>
      <p:sp>
        <p:nvSpPr>
          <p:cNvPr id="93" name="Text 91"/>
          <p:cNvSpPr txBox="1"/>
          <p:nvPr/>
        </p:nvSpPr>
        <p:spPr>
          <a:xfrm>
            <a:off x="10162946" y="1865376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Sep 2026</a:t>
            </a:r>
            <a:endParaRPr lang="en-US" sz="850" dirty="0"/>
          </a:p>
        </p:txBody>
      </p:sp>
      <p:sp>
        <p:nvSpPr>
          <p:cNvPr id="94" name="Text 92"/>
          <p:cNvSpPr txBox="1"/>
          <p:nvPr/>
        </p:nvSpPr>
        <p:spPr>
          <a:xfrm>
            <a:off x="10980725" y="1865376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Jul 2026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8229600" y="2135124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8229600" y="2135124"/>
            <a:ext cx="109728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</a:t>
            </a:r>
            <a:endParaRPr lang="en-US" sz="850" dirty="0"/>
          </a:p>
        </p:txBody>
      </p:sp>
      <p:sp>
        <p:nvSpPr>
          <p:cNvPr id="97" name="Text 95"/>
          <p:cNvSpPr txBox="1"/>
          <p:nvPr/>
        </p:nvSpPr>
        <p:spPr>
          <a:xfrm>
            <a:off x="9345168" y="2135124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850" dirty="0"/>
          </a:p>
        </p:txBody>
      </p:sp>
      <p:sp>
        <p:nvSpPr>
          <p:cNvPr id="98" name="Text 96"/>
          <p:cNvSpPr txBox="1"/>
          <p:nvPr/>
        </p:nvSpPr>
        <p:spPr>
          <a:xfrm>
            <a:off x="10162946" y="2135124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(staged)</a:t>
            </a:r>
            <a:endParaRPr lang="en-US" sz="850" dirty="0"/>
          </a:p>
        </p:txBody>
      </p:sp>
      <p:sp>
        <p:nvSpPr>
          <p:cNvPr id="99" name="Text 97"/>
          <p:cNvSpPr txBox="1"/>
          <p:nvPr/>
        </p:nvSpPr>
        <p:spPr>
          <a:xfrm>
            <a:off x="10980725" y="2135124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weights</a:t>
            </a:r>
            <a:pPr algn="ctr" indent="0" marL="0">
              <a:buNone/>
            </a:pPr>
            <a:r>
              <a:rPr lang="en-US" sz="85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8229600" y="2404872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229600" y="2404872"/>
            <a:ext cx="109728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($ / 1M tokens)</a:t>
            </a:r>
            <a:endParaRPr lang="en-US" sz="850" dirty="0"/>
          </a:p>
        </p:txBody>
      </p:sp>
      <p:sp>
        <p:nvSpPr>
          <p:cNvPr id="102" name="Text 100"/>
          <p:cNvSpPr txBox="1"/>
          <p:nvPr/>
        </p:nvSpPr>
        <p:spPr>
          <a:xfrm>
            <a:off x="9345168" y="2404872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$4.00</a:t>
            </a:r>
            <a:endParaRPr lang="en-US" sz="850" dirty="0"/>
          </a:p>
        </p:txBody>
      </p:sp>
      <p:sp>
        <p:nvSpPr>
          <p:cNvPr id="103" name="Text 101"/>
          <p:cNvSpPr txBox="1"/>
          <p:nvPr/>
        </p:nvSpPr>
        <p:spPr>
          <a:xfrm>
            <a:off x="10162946" y="2404872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$10.00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10980725" y="2404872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$3.00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8229600" y="2674620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8229600" y="2674620"/>
            <a:ext cx="109728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($ / 1M tokens)</a:t>
            </a:r>
            <a:endParaRPr lang="en-US" sz="850" dirty="0"/>
          </a:p>
        </p:txBody>
      </p:sp>
      <p:sp>
        <p:nvSpPr>
          <p:cNvPr id="107" name="Text 105"/>
          <p:cNvSpPr txBox="1"/>
          <p:nvPr/>
        </p:nvSpPr>
        <p:spPr>
          <a:xfrm>
            <a:off x="9345168" y="2674620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$20.00</a:t>
            </a:r>
            <a:endParaRPr lang="en-US" sz="850" dirty="0"/>
          </a:p>
        </p:txBody>
      </p:sp>
      <p:sp>
        <p:nvSpPr>
          <p:cNvPr id="108" name="Text 106"/>
          <p:cNvSpPr txBox="1"/>
          <p:nvPr/>
        </p:nvSpPr>
        <p:spPr>
          <a:xfrm>
            <a:off x="10162946" y="2674620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$50.00</a:t>
            </a:r>
            <a:endParaRPr lang="en-US" sz="850" dirty="0"/>
          </a:p>
        </p:txBody>
      </p:sp>
      <p:sp>
        <p:nvSpPr>
          <p:cNvPr id="109" name="Text 107"/>
          <p:cNvSpPr txBox="1"/>
          <p:nvPr/>
        </p:nvSpPr>
        <p:spPr>
          <a:xfrm>
            <a:off x="10980725" y="2674620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$15.00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8229600" y="2944368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8229600" y="2944368"/>
            <a:ext cx="109728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Cached input ($ / 1M)</a:t>
            </a:r>
            <a:endParaRPr lang="en-US" sz="850" dirty="0"/>
          </a:p>
        </p:txBody>
      </p:sp>
      <p:sp>
        <p:nvSpPr>
          <p:cNvPr id="112" name="Text 110"/>
          <p:cNvSpPr txBox="1"/>
          <p:nvPr/>
        </p:nvSpPr>
        <p:spPr>
          <a:xfrm>
            <a:off x="9345168" y="2944368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$0.20</a:t>
            </a:r>
            <a:endParaRPr lang="en-US" sz="850" dirty="0"/>
          </a:p>
        </p:txBody>
      </p:sp>
      <p:sp>
        <p:nvSpPr>
          <p:cNvPr id="113" name="Text 111"/>
          <p:cNvSpPr txBox="1"/>
          <p:nvPr/>
        </p:nvSpPr>
        <p:spPr>
          <a:xfrm>
            <a:off x="10162946" y="2944368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$1.00</a:t>
            </a:r>
            <a:endParaRPr lang="en-US" sz="850" dirty="0"/>
          </a:p>
        </p:txBody>
      </p:sp>
      <p:sp>
        <p:nvSpPr>
          <p:cNvPr id="114" name="Text 112"/>
          <p:cNvSpPr txBox="1"/>
          <p:nvPr/>
        </p:nvSpPr>
        <p:spPr>
          <a:xfrm>
            <a:off x="10980725" y="2944368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$0.30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8229600" y="3214116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8229600" y="3214116"/>
            <a:ext cx="109728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(tokens)</a:t>
            </a:r>
            <a:endParaRPr lang="en-US" sz="850" dirty="0"/>
          </a:p>
        </p:txBody>
      </p:sp>
      <p:sp>
        <p:nvSpPr>
          <p:cNvPr id="117" name="Text 115"/>
          <p:cNvSpPr txBox="1"/>
          <p:nvPr/>
        </p:nvSpPr>
        <p:spPr>
          <a:xfrm>
            <a:off x="9345168" y="3214116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1.0M</a:t>
            </a:r>
            <a:endParaRPr lang="en-US" sz="850" dirty="0"/>
          </a:p>
        </p:txBody>
      </p:sp>
      <p:sp>
        <p:nvSpPr>
          <p:cNvPr id="118" name="Text 116"/>
          <p:cNvSpPr txBox="1"/>
          <p:nvPr/>
        </p:nvSpPr>
        <p:spPr>
          <a:xfrm>
            <a:off x="10162946" y="3214116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1.05M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10980725" y="3214116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1.0M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8229600" y="3483864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229600" y="3483864"/>
            <a:ext cx="109728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Parameters</a:t>
            </a:r>
            <a:endParaRPr lang="en-US" sz="850" dirty="0"/>
          </a:p>
        </p:txBody>
      </p:sp>
      <p:sp>
        <p:nvSpPr>
          <p:cNvPr id="122" name="Text 120"/>
          <p:cNvSpPr txBox="1"/>
          <p:nvPr/>
        </p:nvSpPr>
        <p:spPr>
          <a:xfrm>
            <a:off x="9345168" y="3483864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850" dirty="0"/>
          </a:p>
        </p:txBody>
      </p:sp>
      <p:sp>
        <p:nvSpPr>
          <p:cNvPr id="123" name="Text 121"/>
          <p:cNvSpPr txBox="1"/>
          <p:nvPr/>
        </p:nvSpPr>
        <p:spPr>
          <a:xfrm>
            <a:off x="10162946" y="3483864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850" dirty="0"/>
          </a:p>
        </p:txBody>
      </p:sp>
      <p:sp>
        <p:nvSpPr>
          <p:cNvPr id="124" name="Text 122"/>
          <p:cNvSpPr txBox="1"/>
          <p:nvPr/>
        </p:nvSpPr>
        <p:spPr>
          <a:xfrm>
            <a:off x="10980725" y="3483864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2.8T MoE</a:t>
            </a:r>
            <a:endParaRPr lang="en-US" sz="850" dirty="0"/>
          </a:p>
        </p:txBody>
      </p:sp>
      <p:sp>
        <p:nvSpPr>
          <p:cNvPr id="125" name="Shape 123"/>
          <p:cNvSpPr/>
          <p:nvPr/>
        </p:nvSpPr>
        <p:spPr>
          <a:xfrm>
            <a:off x="8229600" y="3753612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8229600" y="3753612"/>
            <a:ext cx="109728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 Intelligence Index</a:t>
            </a:r>
            <a:pPr indent="0" marL="0">
              <a:buNone/>
            </a:pPr>
            <a:r>
              <a:rPr lang="en-US" sz="85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850" dirty="0"/>
          </a:p>
        </p:txBody>
      </p:sp>
      <p:sp>
        <p:nvSpPr>
          <p:cNvPr id="127" name="Text 125"/>
          <p:cNvSpPr txBox="1"/>
          <p:nvPr/>
        </p:nvSpPr>
        <p:spPr>
          <a:xfrm>
            <a:off x="9345168" y="3753612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850" dirty="0"/>
          </a:p>
        </p:txBody>
      </p:sp>
      <p:sp>
        <p:nvSpPr>
          <p:cNvPr id="128" name="Text 126"/>
          <p:cNvSpPr txBox="1"/>
          <p:nvPr/>
        </p:nvSpPr>
        <p:spPr>
          <a:xfrm>
            <a:off x="10162946" y="3753612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850" dirty="0"/>
          </a:p>
        </p:txBody>
      </p:sp>
      <p:sp>
        <p:nvSpPr>
          <p:cNvPr id="129" name="Text 127"/>
          <p:cNvSpPr txBox="1"/>
          <p:nvPr/>
        </p:nvSpPr>
        <p:spPr>
          <a:xfrm>
            <a:off x="10980725" y="3753612"/>
            <a:ext cx="781202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850" dirty="0"/>
          </a:p>
        </p:txBody>
      </p:sp>
      <p:sp>
        <p:nvSpPr>
          <p:cNvPr id="130" name="Shape 128"/>
          <p:cNvSpPr/>
          <p:nvPr/>
        </p:nvSpPr>
        <p:spPr>
          <a:xfrm>
            <a:off x="8229600" y="4023360"/>
            <a:ext cx="3550615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8229600" y="4261104"/>
            <a:ext cx="3550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use</a:t>
            </a:r>
            <a:endParaRPr lang="en-US" sz="1100" dirty="0"/>
          </a:p>
        </p:txBody>
      </p:sp>
      <p:sp>
        <p:nvSpPr>
          <p:cNvPr id="132" name="Shape 130"/>
          <p:cNvSpPr/>
          <p:nvPr/>
        </p:nvSpPr>
        <p:spPr>
          <a:xfrm>
            <a:off x="8229600" y="4572000"/>
            <a:ext cx="3550615" cy="1280160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8366760" y="4709160"/>
            <a:ext cx="65836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</a:t>
            </a:r>
            <a:endParaRPr lang="en-US" sz="850" dirty="0"/>
          </a:p>
        </p:txBody>
      </p:sp>
      <p:sp>
        <p:nvSpPr>
          <p:cNvPr id="134" name="Text 132"/>
          <p:cNvSpPr txBox="1"/>
          <p:nvPr/>
        </p:nvSpPr>
        <p:spPr>
          <a:xfrm>
            <a:off x="9025128" y="4709160"/>
            <a:ext cx="2617927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for coding, agents and analyst work. List price c.60% below Astra.</a:t>
            </a:r>
            <a:endParaRPr lang="en-US" sz="850" dirty="0"/>
          </a:p>
        </p:txBody>
      </p:sp>
      <p:sp>
        <p:nvSpPr>
          <p:cNvPr id="135" name="Text 133"/>
          <p:cNvSpPr txBox="1"/>
          <p:nvPr/>
        </p:nvSpPr>
        <p:spPr>
          <a:xfrm>
            <a:off x="8366760" y="5044440"/>
            <a:ext cx="65836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Astra</a:t>
            </a:r>
            <a:endParaRPr lang="en-US" sz="850" dirty="0"/>
          </a:p>
        </p:txBody>
      </p:sp>
      <p:sp>
        <p:nvSpPr>
          <p:cNvPr id="136" name="Text 134"/>
          <p:cNvSpPr txBox="1"/>
          <p:nvPr/>
        </p:nvSpPr>
        <p:spPr>
          <a:xfrm>
            <a:off x="9025128" y="5044440"/>
            <a:ext cx="2617927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use, 3D tools and frontier math. Staged access; OpenAI rates its cyber capability "Critical".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366760" y="5379720"/>
            <a:ext cx="65836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K3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9025128" y="5379720"/>
            <a:ext cx="2617927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Self-hosted and high-volume work. Avoid Moonshot's own API for regulated data.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411480" y="5980176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Ratings are analyst judgment based on the data shown; scores reported by different vendors are not always like-for-like. Prices are list API rates.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Opus 5.5 vs. Astra figures as reported by Anthropic (22 Sep 2026); not independently replicated.  </a:t>
            </a:r>
            <a:pPr indent="0" marL="0">
              <a:lnSpc>
                <a:spcPct val="100000"/>
              </a:lnSpc>
              <a:buNone/>
            </a:pPr>
            <a:r>
              <a:rPr lang="en-US" sz="70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Anthropic and OpenAI report OSWorld 2.0 under different test settings.</a:t>
            </a:r>
            <a:pPr indent="0" marL="0">
              <a:lnSpc>
                <a:spcPct val="100000"/>
              </a:lnSpc>
              <a:buNone/>
            </a:pP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Artificial Analysis Intelligence Index v4.3 (Sep 2026). No like-for-like K3 scores are published for most tasks above, so K3 ratings rely mainly on this index.</a:t>
            </a:r>
            <a:pPr indent="0" marL="0">
              <a:lnSpc>
                <a:spcPct val="100000"/>
              </a:lnSpc>
              <a:buNone/>
            </a:pP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104B active parameters. Weights released 27 Jul 2026 under the Kimi K3 License (modified open license; model-as-a-service businesses above $20M annual revenue need a separate agreement).</a:t>
            </a:r>
            <a:pPr indent="0" marL="0">
              <a:lnSpc>
                <a:spcPct val="100000"/>
              </a:lnSpc>
              <a:buNone/>
            </a:pP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"Introducing Claude Opus 5.5" (22 Sep 2026); OpenAI, "GPT-6 Astra" (3 Sep 2026); Moonshot AI, "Kimi K3 Tech Blog" (16 Jul 2026); Artificial Analysis; Databricks; Fireworks AI.</a:t>
            </a:r>
            <a:endParaRPr lang="en-US" sz="700" dirty="0"/>
          </a:p>
        </p:txBody>
      </p:sp>
      <p:sp>
        <p:nvSpPr>
          <p:cNvPr id="140" name="Text 138"/>
          <p:cNvSpPr txBox="1"/>
          <p:nvPr/>
        </p:nvSpPr>
        <p:spPr>
          <a:xfrm>
            <a:off x="11505895" y="647395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Frontier AI model comparison, Sep 2026</dc:title>
  <dc:subject>PptxGenJS Presentation</dc:subject>
  <dc:creator>PptxGenJS</dc:creator>
  <cp:lastModifiedBy>PptxGenJS</cp:lastModifiedBy>
  <cp:revision>1</cp:revision>
  <dcterms:created xsi:type="dcterms:W3CDTF">2026-09-23T17:33:55Z</dcterms:created>
  <dcterms:modified xsi:type="dcterms:W3CDTF">2026-09-23T17:33:55Z</dcterms:modified>
</cp:coreProperties>
</file>