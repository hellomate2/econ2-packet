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AI MODELS  |  CAPABILITY &amp; TASK-FIT COMPARISON  |  SEPTEMBER 2026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model wins: Opus 5.5 leads coding and knowledge work, GPT-6 Astra leads autonomous computer operation and frontier science, and Kimi K3 wins on cost and control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11480" y="1307592"/>
            <a:ext cx="11368735" cy="0"/>
          </a:xfrm>
          <a:prstGeom prst="line">
            <a:avLst/>
          </a:prstGeom>
          <a:noFill/>
          <a:ln w="12700">
            <a:solidFill>
              <a:srgbClr val="041E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MODEL FOR WHICH TASK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85032" y="1499616"/>
            <a:ext cx="109728" cy="109728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67912" y="1481328"/>
            <a:ext cx="7498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in class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727448" y="1499616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27448" y="1499616"/>
            <a:ext cx="109728" cy="109728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10328" y="1481328"/>
            <a:ext cx="4754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95544" y="1499616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95544" y="1499616"/>
            <a:ext cx="109728" cy="109728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78424" y="1481328"/>
            <a:ext cx="548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Capable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336792" y="1499616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36792" y="1499616"/>
            <a:ext cx="109728" cy="109728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19672" y="1481328"/>
            <a:ext cx="502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132320" y="1499616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0" y="148132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offered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11480" y="1773936"/>
            <a:ext cx="7470648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1480" y="184708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697480" y="184708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5.5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184708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184708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Moonshot AI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687568" y="184708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evidence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2231136"/>
            <a:ext cx="7470648" cy="0"/>
          </a:xfrm>
          <a:prstGeom prst="line">
            <a:avLst/>
          </a:prstGeom>
          <a:noFill/>
          <a:ln w="9525">
            <a:solidFill>
              <a:srgbClr val="C9D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52344" y="2276856"/>
            <a:ext cx="850392" cy="397764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1480" y="2313432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Large-scale code migration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Codebase-wide refactors &amp; audits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086100" y="2384298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46220" y="238429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46220" y="2384298"/>
            <a:ext cx="182880" cy="18288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06340" y="238429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06340" y="2384298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87568" y="2304288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680K-line migration in &lt;1 day; 200K-line audit in &lt;3 hrs (Opus 5: 20+ hrs)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11480" y="272034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52344" y="2766060"/>
            <a:ext cx="850392" cy="397764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1480" y="2802636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coding &amp; terminal work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dev / DevOps agents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086100" y="2873502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46220" y="287350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46220" y="2873502"/>
            <a:ext cx="182880" cy="18288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06340" y="287350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06340" y="2873502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87568" y="2793492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Terminal-Bench 4.0: Opus 66.4% vs Astra 57.9%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11480" y="3209544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52344" y="3255264"/>
            <a:ext cx="850392" cy="397764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11480" y="3291840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 &amp; financial analysis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Research, modelling, reports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086100" y="3362706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46220" y="336270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46220" y="3362706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06340" y="336270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06340" y="3362706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687568" y="3282696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GDPval-AA v2.1 (Elo): Opus 1,846 vs Astra 1,542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11480" y="3698748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12464" y="3744468"/>
            <a:ext cx="850392" cy="397764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11480" y="3781044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desktop &amp; browser use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Multi-app GUI workflows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086100" y="385191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086100" y="3851910"/>
            <a:ext cx="182880" cy="18288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046220" y="3851910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06340" y="385191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006340" y="3851910"/>
            <a:ext cx="182880" cy="1828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687568" y="3771900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Astra: 72.6% OSWorld 2.0 at ~40 min per task, 47% faster than GPT-5.6 Sol¹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11480" y="4187952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712464" y="4233672"/>
            <a:ext cx="850392" cy="397764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11480" y="4270248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&amp; professional creative software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Blender, Unreal Engine 5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3086100" y="4341114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6100" y="4341114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046220" y="4341114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006340" y="4341114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006340" y="4341114"/>
            <a:ext cx="182880" cy="1828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687568" y="4261104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Astra operates Blender and UE5 directly; builds playable 3D scenes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11480" y="4677156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712464" y="4722876"/>
            <a:ext cx="850392" cy="397764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11480" y="4759452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math &amp; scientific research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Proofs, lab &amp; compute workflows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3086100" y="483031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086100" y="4830318"/>
            <a:ext cx="182880" cy="18288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046220" y="4830318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006340" y="483031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006340" y="4830318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687568" y="4750308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Astra: 97.6% FrontierMath T4; Terminal-Bench-Science 64.6% vs Opus 58.7%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411480" y="516636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672584" y="5212080"/>
            <a:ext cx="850392" cy="397764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11480" y="5248656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High-volume, low-cost workloads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Classification, extraction, RAG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3086100" y="531952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86100" y="5319522"/>
            <a:ext cx="182880" cy="18288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46220" y="531952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046220" y="5319522"/>
            <a:ext cx="182880" cy="1828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006340" y="5319522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5687568" y="5239512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$/1M tokens: Kimi $15, Opus $20, Astra $50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11480" y="5655564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672584" y="5701284"/>
            <a:ext cx="850392" cy="397764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411480" y="5737860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Self-hosting &amp; data sovereignty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On-prem, fine-tuning, air-gapped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3086100" y="580872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046220" y="580872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006340" y="5808726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5687568" y="5728716"/>
            <a:ext cx="21945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open-weight option; runs on-prem or in Databricks / Fireworks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1480" y="6144768"/>
            <a:ext cx="7470648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229600" y="1463040"/>
            <a:ext cx="35506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SPECIFICATIONS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8229600" y="1773936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9171432" y="1847088"/>
            <a:ext cx="8695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10041026" y="1847088"/>
            <a:ext cx="8695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10910621" y="1847088"/>
            <a:ext cx="8695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8229600" y="2084832"/>
            <a:ext cx="3550615" cy="0"/>
          </a:xfrm>
          <a:prstGeom prst="line">
            <a:avLst/>
          </a:prstGeom>
          <a:noFill/>
          <a:ln w="9525">
            <a:solidFill>
              <a:srgbClr val="C9D0D9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8229600" y="2084832"/>
            <a:ext cx="9418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Released</a:t>
            </a:r>
            <a:endParaRPr lang="en-US" sz="850" dirty="0"/>
          </a:p>
        </p:txBody>
      </p:sp>
      <p:sp>
        <p:nvSpPr>
          <p:cNvPr id="103" name="Text 101"/>
          <p:cNvSpPr txBox="1"/>
          <p:nvPr/>
        </p:nvSpPr>
        <p:spPr>
          <a:xfrm>
            <a:off x="9198864" y="2084832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Sep 2026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10068458" y="2084832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Sep 2026</a:t>
            </a:r>
            <a:endParaRPr lang="en-US" sz="850" dirty="0"/>
          </a:p>
        </p:txBody>
      </p:sp>
      <p:sp>
        <p:nvSpPr>
          <p:cNvPr id="105" name="Text 103"/>
          <p:cNvSpPr txBox="1"/>
          <p:nvPr/>
        </p:nvSpPr>
        <p:spPr>
          <a:xfrm>
            <a:off x="10938053" y="2084832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Jul 2026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8229600" y="2350008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229600" y="2350008"/>
            <a:ext cx="9418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</a:t>
            </a:r>
            <a:endParaRPr lang="en-US" sz="850" dirty="0"/>
          </a:p>
        </p:txBody>
      </p:sp>
      <p:sp>
        <p:nvSpPr>
          <p:cNvPr id="108" name="Text 106"/>
          <p:cNvSpPr txBox="1"/>
          <p:nvPr/>
        </p:nvSpPr>
        <p:spPr>
          <a:xfrm>
            <a:off x="9198864" y="2350008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API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10068458" y="2350008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API, staged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10938053" y="2350008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weights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8229600" y="2615184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8229600" y="2615184"/>
            <a:ext cx="9418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$/1M</a:t>
            </a:r>
            <a:endParaRPr lang="en-US" sz="850" dirty="0"/>
          </a:p>
        </p:txBody>
      </p:sp>
      <p:sp>
        <p:nvSpPr>
          <p:cNvPr id="113" name="Text 111"/>
          <p:cNvSpPr txBox="1"/>
          <p:nvPr/>
        </p:nvSpPr>
        <p:spPr>
          <a:xfrm>
            <a:off x="9198864" y="2615184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$4.00</a:t>
            </a:r>
            <a:endParaRPr lang="en-US" sz="850" dirty="0"/>
          </a:p>
        </p:txBody>
      </p:sp>
      <p:sp>
        <p:nvSpPr>
          <p:cNvPr id="114" name="Text 112"/>
          <p:cNvSpPr txBox="1"/>
          <p:nvPr/>
        </p:nvSpPr>
        <p:spPr>
          <a:xfrm>
            <a:off x="10068458" y="2615184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$10.00</a:t>
            </a:r>
            <a:endParaRPr lang="en-US" sz="850" dirty="0"/>
          </a:p>
        </p:txBody>
      </p:sp>
      <p:sp>
        <p:nvSpPr>
          <p:cNvPr id="115" name="Text 113"/>
          <p:cNvSpPr txBox="1"/>
          <p:nvPr/>
        </p:nvSpPr>
        <p:spPr>
          <a:xfrm>
            <a:off x="10938053" y="2615184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$3.00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8229600" y="2880360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8229600" y="2880360"/>
            <a:ext cx="9418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$/1M</a:t>
            </a:r>
            <a:endParaRPr lang="en-US" sz="850" dirty="0"/>
          </a:p>
        </p:txBody>
      </p:sp>
      <p:sp>
        <p:nvSpPr>
          <p:cNvPr id="118" name="Text 116"/>
          <p:cNvSpPr txBox="1"/>
          <p:nvPr/>
        </p:nvSpPr>
        <p:spPr>
          <a:xfrm>
            <a:off x="9198864" y="2880360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$20.00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10068458" y="2880360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$50.00</a:t>
            </a:r>
            <a:endParaRPr lang="en-US" sz="850" dirty="0"/>
          </a:p>
        </p:txBody>
      </p:sp>
      <p:sp>
        <p:nvSpPr>
          <p:cNvPr id="120" name="Text 118"/>
          <p:cNvSpPr txBox="1"/>
          <p:nvPr/>
        </p:nvSpPr>
        <p:spPr>
          <a:xfrm>
            <a:off x="10938053" y="2880360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$15.00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8229600" y="3145536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8229600" y="3145536"/>
            <a:ext cx="9418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Cached input $/1M</a:t>
            </a:r>
            <a:endParaRPr lang="en-US" sz="850" dirty="0"/>
          </a:p>
        </p:txBody>
      </p:sp>
      <p:sp>
        <p:nvSpPr>
          <p:cNvPr id="123" name="Text 121"/>
          <p:cNvSpPr txBox="1"/>
          <p:nvPr/>
        </p:nvSpPr>
        <p:spPr>
          <a:xfrm>
            <a:off x="9198864" y="3145536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$0.20</a:t>
            </a:r>
            <a:endParaRPr lang="en-US" sz="850" dirty="0"/>
          </a:p>
        </p:txBody>
      </p:sp>
      <p:sp>
        <p:nvSpPr>
          <p:cNvPr id="124" name="Text 122"/>
          <p:cNvSpPr txBox="1"/>
          <p:nvPr/>
        </p:nvSpPr>
        <p:spPr>
          <a:xfrm>
            <a:off x="10068458" y="3145536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$1.00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10938053" y="3145536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$0.30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8229600" y="3410712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8229600" y="3410712"/>
            <a:ext cx="9418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</a:t>
            </a:r>
            <a:endParaRPr lang="en-US" sz="850" dirty="0"/>
          </a:p>
        </p:txBody>
      </p:sp>
      <p:sp>
        <p:nvSpPr>
          <p:cNvPr id="128" name="Text 126"/>
          <p:cNvSpPr txBox="1"/>
          <p:nvPr/>
        </p:nvSpPr>
        <p:spPr>
          <a:xfrm>
            <a:off x="9198864" y="3410712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</a:t>
            </a:r>
            <a:endParaRPr lang="en-US" sz="850" dirty="0"/>
          </a:p>
        </p:txBody>
      </p:sp>
      <p:sp>
        <p:nvSpPr>
          <p:cNvPr id="129" name="Text 127"/>
          <p:cNvSpPr txBox="1"/>
          <p:nvPr/>
        </p:nvSpPr>
        <p:spPr>
          <a:xfrm>
            <a:off x="10068458" y="3410712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1.05M</a:t>
            </a:r>
            <a:endParaRPr lang="en-US" sz="850" dirty="0"/>
          </a:p>
        </p:txBody>
      </p:sp>
      <p:sp>
        <p:nvSpPr>
          <p:cNvPr id="130" name="Text 128"/>
          <p:cNvSpPr txBox="1"/>
          <p:nvPr/>
        </p:nvSpPr>
        <p:spPr>
          <a:xfrm>
            <a:off x="10938053" y="3410712"/>
            <a:ext cx="81473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8229600" y="3675888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8229600" y="3675888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133" name="Text 131"/>
          <p:cNvSpPr txBox="1"/>
          <p:nvPr/>
        </p:nvSpPr>
        <p:spPr>
          <a:xfrm>
            <a:off x="9198864" y="3675888"/>
            <a:ext cx="8147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Undisclosed</a:t>
            </a:r>
            <a:endParaRPr lang="en-US" sz="850" dirty="0"/>
          </a:p>
        </p:txBody>
      </p:sp>
      <p:sp>
        <p:nvSpPr>
          <p:cNvPr id="134" name="Text 132"/>
          <p:cNvSpPr txBox="1"/>
          <p:nvPr/>
        </p:nvSpPr>
        <p:spPr>
          <a:xfrm>
            <a:off x="10068458" y="3675888"/>
            <a:ext cx="8147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Undisclosed</a:t>
            </a:r>
            <a:endParaRPr lang="en-US" sz="850" dirty="0"/>
          </a:p>
        </p:txBody>
      </p:sp>
      <p:sp>
        <p:nvSpPr>
          <p:cNvPr id="135" name="Text 133"/>
          <p:cNvSpPr txBox="1"/>
          <p:nvPr/>
        </p:nvSpPr>
        <p:spPr>
          <a:xfrm>
            <a:off x="10938053" y="3675888"/>
            <a:ext cx="8147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2.8T MoE, 104B active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8229600" y="4059936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8229600" y="4297680"/>
            <a:ext cx="35506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DEPLOYMENT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8229600" y="4572000"/>
            <a:ext cx="3550615" cy="157276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8375904" y="4700016"/>
            <a:ext cx="3258007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Default: Claude Opus 5.5.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all-rounder for coding, agents and analyst work. Priced 60% below Astra, with the lowest prompt-injection rate tested (Gray Swan).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Specialist: GPT-6 Astra.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GUI automation, 3D tooling and frontier math. OpenAI rates its cyber capability "Critical", so access is gated.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&amp; control: Kimi K3.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 for regulated data or high-volume work, on-prem or in a Western cloud rather than via the China-hosted API.</a:t>
            </a:r>
            <a:endParaRPr lang="en-US" sz="850" dirty="0"/>
          </a:p>
        </p:txBody>
      </p:sp>
      <p:sp>
        <p:nvSpPr>
          <p:cNvPr id="140" name="Text 138"/>
          <p:cNvSpPr txBox="1"/>
          <p:nvPr/>
        </p:nvSpPr>
        <p:spPr>
          <a:xfrm>
            <a:off x="411480" y="638251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Notes: Ratings are an analyst assessment of vendor-reported benchmarks; cross-lab scores are not always like-for-like. Prices are list API rates, US$ per 1M tokens. (1) Anthropic reports 81.8% on OSWorld 2.0 for Opus 5.5 under different test settings.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Anthropic, Introducing Claude Opus 5.5 (22 Sep 2026); OpenAI, GPT-6 Astra launch post and system card (3 Sep 2026); Moonshot AI, Kimi K3 tech report (16 Jul 2026); Artificial Analysis; Databricks.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AI Model Comparison — September 2026</dc:title>
  <dc:subject>PptxGenJS Presentation</dc:subject>
  <dc:creator>PptxGenJS</dc:creator>
  <cp:lastModifiedBy>PptxGenJS</cp:lastModifiedBy>
  <cp:revision>1</cp:revision>
  <dcterms:created xsi:type="dcterms:W3CDTF">2026-09-23T17:28:07Z</dcterms:created>
  <dcterms:modified xsi:type="dcterms:W3CDTF">2026-09-23T17:28:07Z</dcterms:modified>
</cp:coreProperties>
</file>