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/>
          <p:cNvSpPr/>
          <p:nvPr/>
        </p:nvSpPr>
        <p:spPr>
          <a:xfrm>
            <a:off x="530352" y="420624"/>
            <a:ext cx="0" cy="74980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TextBox 2"/>
          <p:cNvSpPr txBox="1"/>
          <p:nvPr/>
        </p:nvSpPr>
        <p:spPr>
          <a:xfrm>
            <a:off x="795528" y="32918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Analysis of the Top Three Frontier AI Models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795528" y="86868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venir Light" pitchFamily="34" charset="0"/>
                <a:ea typeface="Avenir Light" pitchFamily="34" charset="-122"/>
                <a:cs typeface="Avenir Light" pitchFamily="34" charset="-120"/>
              </a:rPr>
              <a:t>Opus 5.5 leads on coding and analyst work, Astra on 3D tools and hard science, and Kimi K3 on cost and self-hosting</a:t>
            </a:r>
            <a:endParaRPr lang="en-US" sz="1600" dirty="0"/>
          </a:p>
        </p:txBody>
      </p:sp>
      <p:sp>
        <p:nvSpPr>
          <p:cNvPr id="5" name="Shape 4"/>
          <p:cNvSpPr/>
          <p:nvPr/>
        </p:nvSpPr>
        <p:spPr>
          <a:xfrm>
            <a:off x="365760" y="1444752"/>
            <a:ext cx="3611880" cy="3383280"/>
          </a:xfrm>
          <a:prstGeom prst="roundRect">
            <a:avLst>
              <a:gd name="adj" fmla="val 3784"/>
            </a:avLst>
          </a:prstGeom>
          <a:solidFill>
            <a:srgbClr val="001D3B"/>
          </a:solidFill>
          <a:ln w="15875">
            <a:solidFill>
              <a:srgbClr val="1C5EDD"/>
            </a:solidFill>
            <a:prstDash val="solid"/>
          </a:ln>
        </p:spPr>
      </p:sp>
      <p:sp>
        <p:nvSpPr>
          <p:cNvPr id="6" name="TextBox 5"/>
          <p:cNvSpPr txBox="1"/>
          <p:nvPr/>
        </p:nvSpPr>
        <p:spPr>
          <a:xfrm>
            <a:off x="640080" y="162763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Claude Opus 5.5</a:t>
            </a:r>
            <a:endParaRPr lang="en-US" sz="2200" dirty="0"/>
          </a:p>
        </p:txBody>
      </p:sp>
      <p:sp>
        <p:nvSpPr>
          <p:cNvPr id="7" name="Straight Connector 6"/>
          <p:cNvSpPr/>
          <p:nvPr/>
        </p:nvSpPr>
        <p:spPr>
          <a:xfrm>
            <a:off x="868680" y="2066544"/>
            <a:ext cx="2606040" cy="0"/>
          </a:xfrm>
          <a:prstGeom prst="line">
            <a:avLst/>
          </a:prstGeom>
          <a:noFill/>
          <a:ln w="9525">
            <a:solidFill>
              <a:srgbClr val="8A9BB5"/>
            </a:solidFill>
            <a:prstDash val="solid"/>
          </a:ln>
        </p:spPr>
      </p:sp>
      <p:sp>
        <p:nvSpPr>
          <p:cNvPr id="8" name="TextBox 7"/>
          <p:cNvSpPr txBox="1"/>
          <p:nvPr/>
        </p:nvSpPr>
        <p:spPr>
          <a:xfrm>
            <a:off x="640080" y="21396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D3E0"/>
                </a:solidFill>
                <a:latin typeface="Avenir Light" pitchFamily="34" charset="0"/>
                <a:ea typeface="Avenir Light" pitchFamily="34" charset="-122"/>
                <a:cs typeface="Avenir Light" pitchFamily="34" charset="-120"/>
              </a:rPr>
              <a:t>Anthropic  |  Released Sep 22, 2026</a:t>
            </a:r>
            <a:endParaRPr lang="en-US" sz="1150" dirty="0"/>
          </a:p>
        </p:txBody>
      </p:sp>
      <p:sp>
        <p:nvSpPr>
          <p:cNvPr id="9" name="TextBox 8"/>
          <p:cNvSpPr txBox="1"/>
          <p:nvPr/>
        </p:nvSpPr>
        <p:spPr>
          <a:xfrm>
            <a:off x="621792" y="2487168"/>
            <a:ext cx="3154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Best for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coding, agent workflows and analyst work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like research and modeling</a:t>
            </a:r>
            <a:endParaRPr lang="en-US" sz="1300" dirty="0"/>
          </a:p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Scored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66.4% on Terminal-Bench 4.0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vs. 57.9% for Astra; one customer migrated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680K lines of code in a day</a:t>
            </a:r>
            <a:endParaRPr lang="en-US" sz="1300" dirty="0"/>
          </a:p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Costs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$4 / $20 per 1M tokens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, about 60% less than Astra</a:t>
            </a:r>
            <a:endParaRPr lang="en-US" sz="1300" dirty="0"/>
          </a:p>
        </p:txBody>
      </p:sp>
      <p:sp>
        <p:nvSpPr>
          <p:cNvPr id="10" name="Rectangle 9"/>
          <p:cNvSpPr/>
          <p:nvPr/>
        </p:nvSpPr>
        <p:spPr>
          <a:xfrm>
            <a:off x="3319272" y="4645152"/>
            <a:ext cx="566928" cy="365760"/>
          </a:xfrm>
          <a:prstGeom prst="rect">
            <a:avLst/>
          </a:prstGeom>
          <a:solidFill>
            <a:srgbClr val="001D3B"/>
          </a:solidFill>
          <a:ln w="12700">
            <a:solidFill>
              <a:srgbClr val="001D3B"/>
            </a:solidFill>
            <a:prstDash val="solid"/>
          </a:ln>
        </p:spPr>
      </p:sp>
      <p:sp>
        <p:nvSpPr>
          <p:cNvPr id="11" name="TextBox 10"/>
          <p:cNvSpPr txBox="1"/>
          <p:nvPr/>
        </p:nvSpPr>
        <p:spPr>
          <a:xfrm>
            <a:off x="3319272" y="4590288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Shape 11"/>
          <p:cNvSpPr/>
          <p:nvPr/>
        </p:nvSpPr>
        <p:spPr>
          <a:xfrm>
            <a:off x="4270248" y="1444752"/>
            <a:ext cx="3611880" cy="3383280"/>
          </a:xfrm>
          <a:prstGeom prst="roundRect">
            <a:avLst>
              <a:gd name="adj" fmla="val 3784"/>
            </a:avLst>
          </a:prstGeom>
          <a:solidFill>
            <a:srgbClr val="001D3B"/>
          </a:solidFill>
          <a:ln w="15875">
            <a:solidFill>
              <a:srgbClr val="1C5EDD"/>
            </a:solidFill>
            <a:prstDash val="solid"/>
          </a:ln>
        </p:spPr>
      </p:sp>
      <p:sp>
        <p:nvSpPr>
          <p:cNvPr id="13" name="TextBox 12"/>
          <p:cNvSpPr txBox="1"/>
          <p:nvPr/>
        </p:nvSpPr>
        <p:spPr>
          <a:xfrm>
            <a:off x="4544568" y="162763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GPT-6 Astra</a:t>
            </a:r>
            <a:endParaRPr lang="en-US" sz="2200" dirty="0"/>
          </a:p>
        </p:txBody>
      </p:sp>
      <p:sp>
        <p:nvSpPr>
          <p:cNvPr id="14" name="Straight Connector 13"/>
          <p:cNvSpPr/>
          <p:nvPr/>
        </p:nvSpPr>
        <p:spPr>
          <a:xfrm>
            <a:off x="4773168" y="2066544"/>
            <a:ext cx="2606040" cy="0"/>
          </a:xfrm>
          <a:prstGeom prst="line">
            <a:avLst/>
          </a:prstGeom>
          <a:noFill/>
          <a:ln w="9525">
            <a:solidFill>
              <a:srgbClr val="8A9BB5"/>
            </a:solidFill>
            <a:prstDash val="solid"/>
          </a:ln>
        </p:spPr>
      </p:sp>
      <p:sp>
        <p:nvSpPr>
          <p:cNvPr id="15" name="TextBox 14"/>
          <p:cNvSpPr txBox="1"/>
          <p:nvPr/>
        </p:nvSpPr>
        <p:spPr>
          <a:xfrm>
            <a:off x="4544568" y="21396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D3E0"/>
                </a:solidFill>
                <a:latin typeface="Avenir Light" pitchFamily="34" charset="0"/>
                <a:ea typeface="Avenir Light" pitchFamily="34" charset="-122"/>
                <a:cs typeface="Avenir Light" pitchFamily="34" charset="-120"/>
              </a:rPr>
              <a:t>OpenAI  |  Released Sep 3, 2026</a:t>
            </a:r>
            <a:endParaRPr lang="en-US" sz="1150" dirty="0"/>
          </a:p>
        </p:txBody>
      </p:sp>
      <p:sp>
        <p:nvSpPr>
          <p:cNvPr id="16" name="TextBox 15"/>
          <p:cNvSpPr txBox="1"/>
          <p:nvPr/>
        </p:nvSpPr>
        <p:spPr>
          <a:xfrm>
            <a:off x="4526280" y="2487168"/>
            <a:ext cx="3154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Best for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operating desktop software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, 3D tools like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Blender and Unreal Engine 5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, and hard math and science</a:t>
            </a:r>
            <a:endParaRPr lang="en-US" sz="1300" dirty="0"/>
          </a:p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Scored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97.6% on FrontierMath Tier 4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and 72.6% on OSWorld 2.0</a:t>
            </a:r>
            <a:endParaRPr lang="en-US" sz="1300" dirty="0"/>
          </a:p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Most expensive at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$10 / $50 per 1M tokens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, with access still rolling out in stages</a:t>
            </a:r>
            <a:endParaRPr lang="en-US" sz="1300" dirty="0"/>
          </a:p>
        </p:txBody>
      </p:sp>
      <p:sp>
        <p:nvSpPr>
          <p:cNvPr id="17" name="Rectangle 16"/>
          <p:cNvSpPr/>
          <p:nvPr/>
        </p:nvSpPr>
        <p:spPr>
          <a:xfrm>
            <a:off x="7223760" y="4645152"/>
            <a:ext cx="566928" cy="365760"/>
          </a:xfrm>
          <a:prstGeom prst="rect">
            <a:avLst/>
          </a:prstGeom>
          <a:solidFill>
            <a:srgbClr val="001D3B"/>
          </a:solidFill>
          <a:ln w="12700">
            <a:solidFill>
              <a:srgbClr val="001D3B"/>
            </a:solidFill>
            <a:prstDash val="solid"/>
          </a:ln>
        </p:spPr>
      </p:sp>
      <p:sp>
        <p:nvSpPr>
          <p:cNvPr id="18" name="TextBox 17"/>
          <p:cNvSpPr txBox="1"/>
          <p:nvPr/>
        </p:nvSpPr>
        <p:spPr>
          <a:xfrm>
            <a:off x="7223760" y="4590288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8"/>
          <p:cNvSpPr/>
          <p:nvPr/>
        </p:nvSpPr>
        <p:spPr>
          <a:xfrm>
            <a:off x="8174736" y="1444752"/>
            <a:ext cx="3611880" cy="3383280"/>
          </a:xfrm>
          <a:prstGeom prst="roundRect">
            <a:avLst>
              <a:gd name="adj" fmla="val 3784"/>
            </a:avLst>
          </a:prstGeom>
          <a:solidFill>
            <a:srgbClr val="001D3B"/>
          </a:solidFill>
          <a:ln w="15875">
            <a:solidFill>
              <a:srgbClr val="1C5EDD"/>
            </a:solidFill>
            <a:prstDash val="solid"/>
          </a:ln>
        </p:spPr>
      </p:sp>
      <p:sp>
        <p:nvSpPr>
          <p:cNvPr id="20" name="TextBox 19"/>
          <p:cNvSpPr txBox="1"/>
          <p:nvPr/>
        </p:nvSpPr>
        <p:spPr>
          <a:xfrm>
            <a:off x="8449056" y="162763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Kimi K3</a:t>
            </a:r>
            <a:endParaRPr lang="en-US" sz="2200" dirty="0"/>
          </a:p>
        </p:txBody>
      </p:sp>
      <p:sp>
        <p:nvSpPr>
          <p:cNvPr id="21" name="Straight Connector 20"/>
          <p:cNvSpPr/>
          <p:nvPr/>
        </p:nvSpPr>
        <p:spPr>
          <a:xfrm>
            <a:off x="8677656" y="2066544"/>
            <a:ext cx="2606040" cy="0"/>
          </a:xfrm>
          <a:prstGeom prst="line">
            <a:avLst/>
          </a:prstGeom>
          <a:noFill/>
          <a:ln w="9525">
            <a:solidFill>
              <a:srgbClr val="8A9BB5"/>
            </a:solidFill>
            <a:prstDash val="solid"/>
          </a:ln>
        </p:spPr>
      </p:sp>
      <p:sp>
        <p:nvSpPr>
          <p:cNvPr id="22" name="TextBox 21"/>
          <p:cNvSpPr txBox="1"/>
          <p:nvPr/>
        </p:nvSpPr>
        <p:spPr>
          <a:xfrm>
            <a:off x="8449056" y="21396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D3E0"/>
                </a:solidFill>
                <a:latin typeface="Avenir Light" pitchFamily="34" charset="0"/>
                <a:ea typeface="Avenir Light" pitchFamily="34" charset="-122"/>
                <a:cs typeface="Avenir Light" pitchFamily="34" charset="-120"/>
              </a:rPr>
              <a:t>Moonshot AI  |  Released Jul 16, 2026</a:t>
            </a:r>
            <a:endParaRPr lang="en-US" sz="1150" dirty="0"/>
          </a:p>
        </p:txBody>
      </p:sp>
      <p:sp>
        <p:nvSpPr>
          <p:cNvPr id="23" name="TextBox 22"/>
          <p:cNvSpPr txBox="1"/>
          <p:nvPr/>
        </p:nvSpPr>
        <p:spPr>
          <a:xfrm>
            <a:off x="8430768" y="2487168"/>
            <a:ext cx="3154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Best for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high-volume, low-cost work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and anything that has to be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self-hosted</a:t>
            </a:r>
            <a:endParaRPr lang="en-US" sz="1300" dirty="0"/>
          </a:p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The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only open-weight model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of the three, with 2.8T parameters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Clr>
                <a:srgbClr val="FFFFFF"/>
              </a:buClr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Cheapest at </a:t>
            </a:r>
            <a:r>
              <a:rPr lang="en-US" sz="13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$3 / $15 per 1M tokens</a:t>
            </a:r>
            <a:r>
              <a:rPr lang="en-US" sz="13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, but scores 44 vs. 58 for Opus on the Artificial Analysis index</a:t>
            </a:r>
            <a:endParaRPr lang="en-US" sz="1300" dirty="0"/>
          </a:p>
        </p:txBody>
      </p:sp>
      <p:sp>
        <p:nvSpPr>
          <p:cNvPr id="24" name="Rectangle 23"/>
          <p:cNvSpPr/>
          <p:nvPr/>
        </p:nvSpPr>
        <p:spPr>
          <a:xfrm>
            <a:off x="11128248" y="4645152"/>
            <a:ext cx="566928" cy="365760"/>
          </a:xfrm>
          <a:prstGeom prst="rect">
            <a:avLst/>
          </a:prstGeom>
          <a:solidFill>
            <a:srgbClr val="001D3B"/>
          </a:solidFill>
          <a:ln w="12700">
            <a:solidFill>
              <a:srgbClr val="001D3B"/>
            </a:solidFill>
            <a:prstDash val="solid"/>
          </a:ln>
        </p:spPr>
      </p:sp>
      <p:sp>
        <p:nvSpPr>
          <p:cNvPr id="25" name="TextBox 24"/>
          <p:cNvSpPr txBox="1"/>
          <p:nvPr/>
        </p:nvSpPr>
        <p:spPr>
          <a:xfrm>
            <a:off x="11128248" y="4590288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Shape 25"/>
          <p:cNvSpPr/>
          <p:nvPr/>
        </p:nvSpPr>
        <p:spPr>
          <a:xfrm>
            <a:off x="320040" y="5010912"/>
            <a:ext cx="11548872" cy="1078992"/>
          </a:xfrm>
          <a:prstGeom prst="roundRect">
            <a:avLst>
              <a:gd name="adj" fmla="val 13559"/>
            </a:avLst>
          </a:prstGeom>
          <a:solidFill>
            <a:srgbClr val="001D3B"/>
          </a:solidFill>
          <a:ln w="12700">
            <a:solidFill>
              <a:srgbClr val="5B7495"/>
            </a:solidFill>
            <a:prstDash val="solid"/>
          </a:ln>
        </p:spPr>
      </p:sp>
      <p:sp>
        <p:nvSpPr>
          <p:cNvPr id="27" name="Shape 26"/>
          <p:cNvSpPr/>
          <p:nvPr/>
        </p:nvSpPr>
        <p:spPr>
          <a:xfrm>
            <a:off x="365760" y="5047488"/>
            <a:ext cx="11457432" cy="1005840"/>
          </a:xfrm>
          <a:prstGeom prst="roundRect">
            <a:avLst>
              <a:gd name="adj" fmla="val 12727"/>
            </a:avLst>
          </a:prstGeom>
          <a:solidFill>
            <a:srgbClr val="001D3B"/>
          </a:solidFill>
          <a:ln w="12700">
            <a:solidFill>
              <a:srgbClr val="5DAAFF"/>
            </a:solidFill>
            <a:prstDash val="solid"/>
          </a:ln>
        </p:spPr>
      </p:sp>
      <p:sp>
        <p:nvSpPr>
          <p:cNvPr id="28" name="Rectangle 27"/>
          <p:cNvSpPr/>
          <p:nvPr/>
        </p:nvSpPr>
        <p:spPr>
          <a:xfrm>
            <a:off x="1234440" y="4864608"/>
            <a:ext cx="2148840" cy="310896"/>
          </a:xfrm>
          <a:prstGeom prst="rect">
            <a:avLst/>
          </a:prstGeom>
          <a:solidFill>
            <a:srgbClr val="001D3B"/>
          </a:solidFill>
          <a:ln w="12700">
            <a:solidFill>
              <a:srgbClr val="001D3B"/>
            </a:solidFill>
            <a:prstDash val="solid"/>
          </a:ln>
        </p:spPr>
      </p:sp>
      <p:sp>
        <p:nvSpPr>
          <p:cNvPr id="29" name="TextBox 28"/>
          <p:cNvSpPr txBox="1"/>
          <p:nvPr/>
        </p:nvSpPr>
        <p:spPr>
          <a:xfrm>
            <a:off x="1234440" y="484632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30" name="TextBox 29"/>
          <p:cNvSpPr txBox="1"/>
          <p:nvPr/>
        </p:nvSpPr>
        <p:spPr>
          <a:xfrm>
            <a:off x="640080" y="5230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Clr>
                <a:srgbClr val="FFFFFF"/>
              </a:buClr>
              <a:buSzPct val="100000"/>
              <a:buChar char="•"/>
            </a:pPr>
            <a:r>
              <a:rPr lang="en-US" sz="14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Opus 5.5</a:t>
            </a:r>
            <a:r>
              <a:rPr lang="en-US" sz="14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should be the default for most work, given its lead on coding and knowledge-work benchmarks and its </a:t>
            </a:r>
            <a:r>
              <a:rPr lang="en-US" sz="14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lower price than Astra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Clr>
                <a:srgbClr val="FFFFFF"/>
              </a:buClr>
              <a:buSzPct val="100000"/>
              <a:buChar char="•"/>
            </a:pPr>
            <a:r>
              <a:rPr lang="en-US" sz="14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Astra</a:t>
            </a:r>
            <a:r>
              <a:rPr lang="en-US" sz="14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is worth the premium for specialist work, while </a:t>
            </a:r>
            <a:r>
              <a:rPr lang="en-US" sz="1400" dirty="0">
                <a:solidFill>
                  <a:srgbClr val="5DAA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Kimi K3</a:t>
            </a:r>
            <a:r>
              <a:rPr lang="en-US" sz="1400" dirty="0">
                <a:solidFill>
                  <a:srgbClr val="FFFFFF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 fits teams that need to keep data in-house or cut costs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365760" y="640080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Avenir Book" pitchFamily="34" charset="0"/>
                <a:ea typeface="Avenir Book" pitchFamily="34" charset="-122"/>
                <a:cs typeface="Avenir Book" pitchFamily="34" charset="-120"/>
              </a:rPr>
              <a:t>Sources: Anthropic, OpenAI, Moonshot AI, Artificial Analysis (Sep 2026). Opus vs. Astra benchmarks as reported by Anthropic.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Boo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Models</dc:title>
  <dc:subject/>
  <dc:creator/>
  <cp:lastModifiedBy/>
  <cp:revision>1</cp:revision>
  <dcterms:created xsi:type="dcterms:W3CDTF">2026-09-23T18:23:00Z</dcterms:created>
  <dcterms:modified xsi:type="dcterms:W3CDTF">2026-09-23T18:23:00Z</dcterms:modified>
</cp:coreProperties>
</file>