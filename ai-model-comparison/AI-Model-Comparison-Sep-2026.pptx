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3108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model comparison  |  As of 23 September 2026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1368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top three frontier AI models: Claude Opus 5.5, GPT-6 Astra and Kimi K3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042416"/>
            <a:ext cx="11368735" cy="0"/>
          </a:xfrm>
          <a:prstGeom prst="line">
            <a:avLst/>
          </a:prstGeom>
          <a:noFill/>
          <a:ln w="12700">
            <a:solidFill>
              <a:srgbClr val="041E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2070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416552" y="1252728"/>
            <a:ext cx="137160" cy="13716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234440"/>
            <a:ext cx="80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in class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550408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50408" y="1252728"/>
            <a:ext cx="137160" cy="13716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51576" y="1234440"/>
            <a:ext cx="4754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55080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1252728"/>
            <a:ext cx="137160" cy="13716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56248" y="1234440"/>
            <a:ext cx="566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Capable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251192" y="1252728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51192" y="1252728"/>
            <a:ext cx="137160" cy="13716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52360" y="1234440"/>
            <a:ext cx="521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11480" y="1554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" y="162763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807208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48456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489704" y="16276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Moonshot AI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627632"/>
            <a:ext cx="244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data point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 vs. Astra unless stated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2029968"/>
            <a:ext cx="7470648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80360" y="2084832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1480" y="2029968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coding and migration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agents, refactors, codebase audits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36392" y="223113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77640" y="223113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77640" y="2231136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18888" y="223113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18888" y="2231136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2029968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 4.0: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57.9%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migrated 680K lines in under a day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261518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80360" y="2670048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1480" y="261518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work and finance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financial modeling, reports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36392" y="281635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977640" y="281635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2816352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18888" y="2816352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18888" y="2816352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0680" y="2615184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GDPval-AA v2.1: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1,846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1,542 Elo; Humanity's Last Exam: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57.2%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11480" y="3200400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80360" y="3255264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1608" y="3255264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11480" y="3200400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use and automation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Desktop, browser, multi-app workflows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136392" y="340156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77640" y="3401568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3401568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3401568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40680" y="3200400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OSWorld 2.0: 81.8% vs. 72.6%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AutomationBench: 40.0% vs.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41.4%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1480" y="3785616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21608" y="3840480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11480" y="3785616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software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Blender, Unreal Engine 5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3136392" y="398678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136392" y="3986784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77640" y="3986784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18888" y="3986784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18888" y="3986784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40680" y="3785616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Astra operates Blender and UE5 directly (OpenAI launch demo)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11480" y="4370832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721608" y="4425696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11480" y="4370832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math and science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Research-level math, lab workflows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136392" y="45720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36392" y="4572000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77640" y="4572000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18888" y="457200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18888" y="4572000"/>
            <a:ext cx="182880" cy="1828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440680" y="4370832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Terminal-Bench-Science: 58.7% vs.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64.6%</a:t>
            </a:r>
            <a:pPr indent="0" marL="0">
              <a:buNone/>
            </a:pPr>
            <a:r>
              <a:rPr lang="en-US" sz="900" baseline="300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FrontierMath Tier 4: Astra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97.6%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11480" y="4956048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62856" y="5010912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11480" y="4956048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High-volume, low-cost work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Classification, extraction, RAG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3136392" y="515721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136392" y="5157216"/>
            <a:ext cx="182880" cy="182880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977640" y="5157216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977640" y="5157216"/>
            <a:ext cx="182880" cy="1828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041E42"/>
          </a:solidFill>
          <a:ln w="3175">
            <a:solidFill>
              <a:srgbClr val="041E4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18888" y="5157216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440680" y="4956048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In/out $/1M: K3 </a:t>
            </a:r>
            <a:pPr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$3/$15</a:t>
            </a:r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Opus 5.5 $4/$20, Astra $10/$50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11480" y="5541264"/>
            <a:ext cx="7470648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562856" y="5596128"/>
            <a:ext cx="694944" cy="475488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11480" y="5541264"/>
            <a:ext cx="2304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Self-hosting and data control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On-prem, private cloud</a:t>
            </a:r>
            <a:endParaRPr lang="en-US" sz="1050" dirty="0"/>
          </a:p>
        </p:txBody>
      </p:sp>
      <p:sp>
        <p:nvSpPr>
          <p:cNvPr id="80" name="Text 78"/>
          <p:cNvSpPr txBox="1"/>
          <p:nvPr/>
        </p:nvSpPr>
        <p:spPr>
          <a:xfrm>
            <a:off x="2953512" y="5742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3794760" y="5742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818888" y="5742432"/>
            <a:ext cx="182880" cy="182880"/>
          </a:xfrm>
          <a:prstGeom prst="ellipse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40680" y="5541264"/>
            <a:ext cx="2441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open-weight model of the three; also on Databricks and Fireworks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411480" y="6126480"/>
            <a:ext cx="7470648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29600" y="1207008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229600" y="1554480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29600" y="1627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Released</a:t>
            </a:r>
            <a:endParaRPr lang="en-US" sz="1000" dirty="0"/>
          </a:p>
        </p:txBody>
      </p:sp>
      <p:sp>
        <p:nvSpPr>
          <p:cNvPr id="88" name="Text 86"/>
          <p:cNvSpPr txBox="1"/>
          <p:nvPr/>
        </p:nvSpPr>
        <p:spPr>
          <a:xfrm>
            <a:off x="9418320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Sep 2026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10205618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Sep 2026</a:t>
            </a:r>
            <a:endParaRPr lang="en-US" sz="1000" dirty="0"/>
          </a:p>
        </p:txBody>
      </p:sp>
      <p:sp>
        <p:nvSpPr>
          <p:cNvPr id="90" name="Text 88"/>
          <p:cNvSpPr txBox="1"/>
          <p:nvPr/>
        </p:nvSpPr>
        <p:spPr>
          <a:xfrm>
            <a:off x="10992917" y="1627632"/>
            <a:ext cx="787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10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Jul 2026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229600" y="2029968"/>
            <a:ext cx="3550615" cy="0"/>
          </a:xfrm>
          <a:prstGeom prst="line">
            <a:avLst/>
          </a:prstGeom>
          <a:noFill/>
          <a:ln w="9525">
            <a:solidFill>
              <a:srgbClr val="C9D0D9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8229600" y="20299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9418320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0205618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(staged)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10992917" y="202996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weights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8229600" y="232257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084357" y="2359152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8229600" y="232257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($/1M tokens)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9418320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$4.00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0205618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$10.00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10992917" y="232257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8229600" y="2615184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1084357" y="2651760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229600" y="261518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($/1M tokens)</a:t>
            </a:r>
            <a:endParaRPr lang="en-US" sz="900" dirty="0"/>
          </a:p>
        </p:txBody>
      </p:sp>
      <p:sp>
        <p:nvSpPr>
          <p:cNvPr id="105" name="Text 103"/>
          <p:cNvSpPr txBox="1"/>
          <p:nvPr/>
        </p:nvSpPr>
        <p:spPr>
          <a:xfrm>
            <a:off x="9418320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</a:t>
            </a:r>
            <a:endParaRPr lang="en-US" sz="900" dirty="0"/>
          </a:p>
        </p:txBody>
      </p:sp>
      <p:sp>
        <p:nvSpPr>
          <p:cNvPr id="106" name="Text 104"/>
          <p:cNvSpPr txBox="1"/>
          <p:nvPr/>
        </p:nvSpPr>
        <p:spPr>
          <a:xfrm>
            <a:off x="10205618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$50.00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0992917" y="2615184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8229600" y="2907792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509760" y="2944368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229600" y="29077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input ($/1M)</a:t>
            </a:r>
            <a:endParaRPr lang="en-US" sz="900" dirty="0"/>
          </a:p>
        </p:txBody>
      </p:sp>
      <p:sp>
        <p:nvSpPr>
          <p:cNvPr id="111" name="Text 109"/>
          <p:cNvSpPr txBox="1"/>
          <p:nvPr/>
        </p:nvSpPr>
        <p:spPr>
          <a:xfrm>
            <a:off x="9418320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$0.20</a:t>
            </a:r>
            <a:endParaRPr lang="en-US" sz="900" dirty="0"/>
          </a:p>
        </p:txBody>
      </p:sp>
      <p:sp>
        <p:nvSpPr>
          <p:cNvPr id="112" name="Text 110"/>
          <p:cNvSpPr txBox="1"/>
          <p:nvPr/>
        </p:nvSpPr>
        <p:spPr>
          <a:xfrm>
            <a:off x="10205618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$1.00</a:t>
            </a:r>
            <a:endParaRPr lang="en-US" sz="900" dirty="0"/>
          </a:p>
        </p:txBody>
      </p:sp>
      <p:sp>
        <p:nvSpPr>
          <p:cNvPr id="113" name="Text 111"/>
          <p:cNvSpPr txBox="1"/>
          <p:nvPr/>
        </p:nvSpPr>
        <p:spPr>
          <a:xfrm>
            <a:off x="10992917" y="2907792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$0.30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8229600" y="3200400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8229600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(tokens)</a:t>
            </a:r>
            <a:endParaRPr lang="en-US" sz="900" dirty="0"/>
          </a:p>
        </p:txBody>
      </p:sp>
      <p:sp>
        <p:nvSpPr>
          <p:cNvPr id="116" name="Text 114"/>
          <p:cNvSpPr txBox="1"/>
          <p:nvPr/>
        </p:nvSpPr>
        <p:spPr>
          <a:xfrm>
            <a:off x="9418320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900" dirty="0"/>
          </a:p>
        </p:txBody>
      </p:sp>
      <p:sp>
        <p:nvSpPr>
          <p:cNvPr id="117" name="Text 115"/>
          <p:cNvSpPr txBox="1"/>
          <p:nvPr/>
        </p:nvSpPr>
        <p:spPr>
          <a:xfrm>
            <a:off x="10205618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1.05M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10992917" y="3200400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1.0M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8229600" y="3493008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8229600" y="349300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9418320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10205618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Undisclosed</a:t>
            </a:r>
            <a:endParaRPr lang="en-US" sz="900" dirty="0"/>
          </a:p>
        </p:txBody>
      </p:sp>
      <p:sp>
        <p:nvSpPr>
          <p:cNvPr id="123" name="Text 121"/>
          <p:cNvSpPr txBox="1"/>
          <p:nvPr/>
        </p:nvSpPr>
        <p:spPr>
          <a:xfrm>
            <a:off x="10992917" y="3493008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2.8T MoE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>
            <a:off x="8229600" y="3785616"/>
            <a:ext cx="3550615" cy="0"/>
          </a:xfrm>
          <a:prstGeom prst="line">
            <a:avLst/>
          </a:prstGeom>
          <a:noFill/>
          <a:ln w="6350">
            <a:solidFill>
              <a:srgbClr val="E3E7E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509760" y="3822192"/>
            <a:ext cx="604418" cy="219456"/>
          </a:xfrm>
          <a:prstGeom prst="rect">
            <a:avLst/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8229600" y="37856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 Intelligence Index</a:t>
            </a:r>
            <a:pPr indent="0" marL="0">
              <a:buNone/>
            </a:pPr>
            <a:r>
              <a:rPr lang="en-US" sz="90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900" dirty="0"/>
          </a:p>
        </p:txBody>
      </p:sp>
      <p:sp>
        <p:nvSpPr>
          <p:cNvPr id="127" name="Text 125"/>
          <p:cNvSpPr txBox="1"/>
          <p:nvPr/>
        </p:nvSpPr>
        <p:spPr>
          <a:xfrm>
            <a:off x="9418320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128" name="Text 126"/>
          <p:cNvSpPr txBox="1"/>
          <p:nvPr/>
        </p:nvSpPr>
        <p:spPr>
          <a:xfrm>
            <a:off x="10205618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129" name="Text 127"/>
          <p:cNvSpPr txBox="1"/>
          <p:nvPr/>
        </p:nvSpPr>
        <p:spPr>
          <a:xfrm>
            <a:off x="10992917" y="3785616"/>
            <a:ext cx="7872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229600" y="4078224"/>
            <a:ext cx="3550615" cy="0"/>
          </a:xfrm>
          <a:prstGeom prst="line">
            <a:avLst/>
          </a:prstGeom>
          <a:noFill/>
          <a:ln w="9525">
            <a:solidFill>
              <a:srgbClr val="041E42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8229600" y="4315968"/>
            <a:ext cx="35506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41E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use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8229600" y="4663440"/>
            <a:ext cx="3550615" cy="1463040"/>
          </a:xfrm>
          <a:prstGeom prst="rect">
            <a:avLst/>
          </a:prstGeom>
          <a:solidFill>
            <a:srgbClr val="041E42"/>
          </a:solidFill>
          <a:ln w="12700">
            <a:solidFill>
              <a:srgbClr val="041E42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8394192" y="47914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5.5</a:t>
            </a:r>
            <a:endParaRPr lang="en-US" sz="1050" dirty="0"/>
          </a:p>
        </p:txBody>
      </p:sp>
      <p:sp>
        <p:nvSpPr>
          <p:cNvPr id="134" name="Text 132"/>
          <p:cNvSpPr txBox="1"/>
          <p:nvPr/>
        </p:nvSpPr>
        <p:spPr>
          <a:xfrm>
            <a:off x="10335463" y="480974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A9BB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</a:t>
            </a:r>
            <a:endParaRPr lang="en-US" sz="750" dirty="0"/>
          </a:p>
        </p:txBody>
      </p:sp>
      <p:sp>
        <p:nvSpPr>
          <p:cNvPr id="135" name="Text 133"/>
          <p:cNvSpPr txBox="1"/>
          <p:nvPr/>
        </p:nvSpPr>
        <p:spPr>
          <a:xfrm>
            <a:off x="8394192" y="4992624"/>
            <a:ext cx="3221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Coding, agents and analysis at c.60% below Astra's price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8394192" y="5169408"/>
            <a:ext cx="3221431" cy="0"/>
          </a:xfrm>
          <a:prstGeom prst="line">
            <a:avLst/>
          </a:prstGeom>
          <a:noFill/>
          <a:ln w="6350">
            <a:solidFill>
              <a:srgbClr val="2A457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8394192" y="5242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050" dirty="0"/>
          </a:p>
        </p:txBody>
      </p:sp>
      <p:sp>
        <p:nvSpPr>
          <p:cNvPr id="138" name="Text 136"/>
          <p:cNvSpPr txBox="1"/>
          <p:nvPr/>
        </p:nvSpPr>
        <p:spPr>
          <a:xfrm>
            <a:off x="10335463" y="52608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A9BB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SPECIALIST</a:t>
            </a:r>
            <a:endParaRPr lang="en-US" sz="750" dirty="0"/>
          </a:p>
        </p:txBody>
      </p:sp>
      <p:sp>
        <p:nvSpPr>
          <p:cNvPr id="139" name="Text 137"/>
          <p:cNvSpPr txBox="1"/>
          <p:nvPr/>
        </p:nvSpPr>
        <p:spPr>
          <a:xfrm>
            <a:off x="8394192" y="5443728"/>
            <a:ext cx="3221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and creative tools, frontier math and science</a:t>
            </a:r>
            <a:endParaRPr lang="en-US" sz="900" dirty="0"/>
          </a:p>
        </p:txBody>
      </p:sp>
      <p:sp>
        <p:nvSpPr>
          <p:cNvPr id="140" name="Shape 138"/>
          <p:cNvSpPr/>
          <p:nvPr/>
        </p:nvSpPr>
        <p:spPr>
          <a:xfrm>
            <a:off x="8394192" y="5620512"/>
            <a:ext cx="3221431" cy="0"/>
          </a:xfrm>
          <a:prstGeom prst="line">
            <a:avLst/>
          </a:prstGeom>
          <a:noFill/>
          <a:ln w="6350">
            <a:solidFill>
              <a:srgbClr val="2A4570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8394192" y="56936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K3</a:t>
            </a:r>
            <a:endParaRPr lang="en-US" sz="1050" dirty="0"/>
          </a:p>
        </p:txBody>
      </p:sp>
      <p:sp>
        <p:nvSpPr>
          <p:cNvPr id="142" name="Text 140"/>
          <p:cNvSpPr txBox="1"/>
          <p:nvPr/>
        </p:nvSpPr>
        <p:spPr>
          <a:xfrm>
            <a:off x="10335463" y="57119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A9BB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</a:t>
            </a:r>
            <a:endParaRPr lang="en-US" sz="750" dirty="0"/>
          </a:p>
        </p:txBody>
      </p:sp>
      <p:sp>
        <p:nvSpPr>
          <p:cNvPr id="143" name="Text 141"/>
          <p:cNvSpPr txBox="1"/>
          <p:nvPr/>
        </p:nvSpPr>
        <p:spPr>
          <a:xfrm>
            <a:off x="8394192" y="5894832"/>
            <a:ext cx="322143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CE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data and high-volume, low-cost workloads</a:t>
            </a:r>
            <a:endParaRPr lang="en-US" sz="900" dirty="0"/>
          </a:p>
        </p:txBody>
      </p:sp>
      <p:sp>
        <p:nvSpPr>
          <p:cNvPr id="144" name="Text 142"/>
          <p:cNvSpPr txBox="1"/>
          <p:nvPr/>
        </p:nvSpPr>
        <p:spPr>
          <a:xfrm>
            <a:off x="411480" y="6254496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Ratings are analyst judgment; shading marks the leader in each row. Prices are list API rates. Parameter counts are not disclosed by Anthropic or OpenAI.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reported by Anthropic.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Vendors used different test settings. </a:t>
            </a:r>
            <a:pPr indent="0" marL="0">
              <a:buNone/>
            </a:pPr>
            <a:r>
              <a:rPr lang="en-US" sz="750" baseline="300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Artificial Analysis, v4.3.</a:t>
            </a:r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 (22 Sep 2026); OpenAI (3 Sep 2026); Moonshot AI (16 Jul 2026); Artificial Analysis</a:t>
            </a:r>
            <a:endParaRPr lang="en-US" sz="750" dirty="0"/>
          </a:p>
        </p:txBody>
      </p:sp>
      <p:sp>
        <p:nvSpPr>
          <p:cNvPr id="145" name="Text 143"/>
          <p:cNvSpPr txBox="1"/>
          <p:nvPr/>
        </p:nvSpPr>
        <p:spPr>
          <a:xfrm>
            <a:off x="11505895" y="638251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Frontier AI model comparison, Sep 2026</dc:title>
  <dc:subject>PptxGenJS Presentation</dc:subject>
  <dc:creator>PptxGenJS</dc:creator>
  <cp:lastModifiedBy>PptxGenJS</cp:lastModifiedBy>
  <cp:revision>1</cp:revision>
  <dcterms:created xsi:type="dcterms:W3CDTF">2026-09-23T17:42:43Z</dcterms:created>
  <dcterms:modified xsi:type="dcterms:W3CDTF">2026-09-23T17:42:43Z</dcterms:modified>
</cp:coreProperties>
</file>