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/>
          <p:cNvSpPr/>
          <p:nvPr/>
        </p:nvSpPr>
        <p:spPr>
          <a:xfrm>
            <a:off x="530352" y="402336"/>
            <a:ext cx="0" cy="7315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TextBox 2"/>
          <p:cNvSpPr txBox="1"/>
          <p:nvPr/>
        </p:nvSpPr>
        <p:spPr>
          <a:xfrm>
            <a:off x="795528" y="310896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Analysis of the Top Three Frontier AI Models</a:t>
            </a:r>
            <a:endParaRPr lang="en-US" sz="3000" dirty="0"/>
          </a:p>
        </p:txBody>
      </p:sp>
      <p:sp>
        <p:nvSpPr>
          <p:cNvPr id="4" name="TextBox 3"/>
          <p:cNvSpPr txBox="1"/>
          <p:nvPr/>
        </p:nvSpPr>
        <p:spPr>
          <a:xfrm>
            <a:off x="795528" y="85039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Opus 5.5 leads on coding and analyst work, Astra on 3D tools and hard science, and Kimi K3 on cost and self-hosting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673352"/>
            <a:ext cx="3767328" cy="3264408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353312"/>
            <a:ext cx="731520" cy="731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820" y="1536192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1762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Claude Opus 5.5</a:t>
            </a:r>
            <a:endParaRPr lang="en-US" sz="1800" dirty="0"/>
          </a:p>
        </p:txBody>
      </p:sp>
      <p:sp>
        <p:nvSpPr>
          <p:cNvPr id="9" name="Straight Connector 8"/>
          <p:cNvSpPr/>
          <p:nvPr/>
        </p:nvSpPr>
        <p:spPr>
          <a:xfrm>
            <a:off x="914400" y="2569464"/>
            <a:ext cx="2514600" cy="0"/>
          </a:xfrm>
          <a:prstGeom prst="line">
            <a:avLst/>
          </a:prstGeom>
          <a:noFill/>
          <a:ln w="9525">
            <a:solidFill>
              <a:srgbClr val="8A9BB5"/>
            </a:solidFill>
            <a:prstDash val="solid"/>
          </a:ln>
        </p:spPr>
      </p:sp>
      <p:sp>
        <p:nvSpPr>
          <p:cNvPr id="10" name="TextBox 9"/>
          <p:cNvSpPr txBox="1"/>
          <p:nvPr/>
        </p:nvSpPr>
        <p:spPr>
          <a:xfrm>
            <a:off x="640080" y="263347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D3E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Anthropic  |  Released Sep 22, 2026</a:t>
            </a:r>
            <a:endParaRPr 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603504" y="2944368"/>
            <a:ext cx="31912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for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coding, agent workflows and analyst work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like research and modeling</a:t>
            </a:r>
            <a:endParaRPr lang="en-US" sz="1150" dirty="0"/>
          </a:p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Scored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66.4% on Terminal-Bench 4.0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vs. 57.9% for Astra; one customer migrated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680K lines of code in a day</a:t>
            </a:r>
            <a:endParaRPr lang="en-US" sz="1150" dirty="0"/>
          </a:p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Costs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 / $20 per 1M tokens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about 60% less than Astra</a:t>
            </a:r>
            <a:endParaRPr lang="en-US" sz="1150" dirty="0"/>
          </a:p>
        </p:txBody>
      </p:sp>
      <p:sp>
        <p:nvSpPr>
          <p:cNvPr id="12" name="TextBox 11"/>
          <p:cNvSpPr txBox="1"/>
          <p:nvPr/>
        </p:nvSpPr>
        <p:spPr>
          <a:xfrm>
            <a:off x="3264408" y="4599432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4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528" y="1673352"/>
            <a:ext cx="3767328" cy="3264408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0428" y="1353312"/>
            <a:ext cx="731520" cy="73152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308" y="1536192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44568" y="21762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GPT-6 Astra</a:t>
            </a:r>
            <a:endParaRPr lang="en-US" sz="1800" dirty="0"/>
          </a:p>
        </p:txBody>
      </p:sp>
      <p:sp>
        <p:nvSpPr>
          <p:cNvPr id="17" name="Straight Connector 16"/>
          <p:cNvSpPr/>
          <p:nvPr/>
        </p:nvSpPr>
        <p:spPr>
          <a:xfrm>
            <a:off x="4818888" y="2569464"/>
            <a:ext cx="2514600" cy="0"/>
          </a:xfrm>
          <a:prstGeom prst="line">
            <a:avLst/>
          </a:prstGeom>
          <a:noFill/>
          <a:ln w="9525">
            <a:solidFill>
              <a:srgbClr val="8A9BB5"/>
            </a:solidFill>
            <a:prstDash val="solid"/>
          </a:ln>
        </p:spPr>
      </p:sp>
      <p:sp>
        <p:nvSpPr>
          <p:cNvPr id="18" name="TextBox 17"/>
          <p:cNvSpPr txBox="1"/>
          <p:nvPr/>
        </p:nvSpPr>
        <p:spPr>
          <a:xfrm>
            <a:off x="4544568" y="263347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D3E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OpenAI  |  Released Sep 3, 2026</a:t>
            </a:r>
            <a:endParaRPr lang="en-US" sz="1000" dirty="0"/>
          </a:p>
        </p:txBody>
      </p:sp>
      <p:sp>
        <p:nvSpPr>
          <p:cNvPr id="19" name="TextBox 18"/>
          <p:cNvSpPr txBox="1"/>
          <p:nvPr/>
        </p:nvSpPr>
        <p:spPr>
          <a:xfrm>
            <a:off x="4507992" y="2944368"/>
            <a:ext cx="31912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for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operating desktop software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3D tools like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Blender and Unreal Engine 5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and hard math and science</a:t>
            </a:r>
            <a:endParaRPr lang="en-US" sz="1150" dirty="0"/>
          </a:p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Scored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97.6% on FrontierMath Tier 4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72.6% on OSWorld 2.0</a:t>
            </a:r>
            <a:endParaRPr lang="en-US" sz="1150" dirty="0"/>
          </a:p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expensive at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 / $50 per 1M tokens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with access still rolling out in stages</a:t>
            </a:r>
            <a:endParaRPr lang="en-US" sz="1150" dirty="0"/>
          </a:p>
        </p:txBody>
      </p:sp>
      <p:sp>
        <p:nvSpPr>
          <p:cNvPr id="20" name="TextBox 19"/>
          <p:cNvSpPr txBox="1"/>
          <p:nvPr/>
        </p:nvSpPr>
        <p:spPr>
          <a:xfrm>
            <a:off x="7168896" y="4599432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4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9016" y="1673352"/>
            <a:ext cx="3767328" cy="3264408"/>
          </a:xfrm>
          <a:prstGeom prst="rect">
            <a:avLst/>
          </a:prstGeom>
        </p:spPr>
      </p:pic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4916" y="1353312"/>
            <a:ext cx="731520" cy="731520"/>
          </a:xfrm>
          <a:prstGeom prst="rect">
            <a:avLst/>
          </a:prstGeom>
        </p:spPr>
      </p:pic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7796" y="153619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9056" y="2176272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Kimi K3</a:t>
            </a:r>
            <a:endParaRPr lang="en-US" sz="1800" dirty="0"/>
          </a:p>
        </p:txBody>
      </p:sp>
      <p:sp>
        <p:nvSpPr>
          <p:cNvPr id="25" name="Straight Connector 24"/>
          <p:cNvSpPr/>
          <p:nvPr/>
        </p:nvSpPr>
        <p:spPr>
          <a:xfrm>
            <a:off x="8723376" y="2569464"/>
            <a:ext cx="2514600" cy="0"/>
          </a:xfrm>
          <a:prstGeom prst="line">
            <a:avLst/>
          </a:prstGeom>
          <a:noFill/>
          <a:ln w="9525">
            <a:solidFill>
              <a:srgbClr val="8A9BB5"/>
            </a:solidFill>
            <a:prstDash val="solid"/>
          </a:ln>
        </p:spPr>
      </p:sp>
      <p:sp>
        <p:nvSpPr>
          <p:cNvPr id="26" name="TextBox 25"/>
          <p:cNvSpPr txBox="1"/>
          <p:nvPr/>
        </p:nvSpPr>
        <p:spPr>
          <a:xfrm>
            <a:off x="8449056" y="263347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D3E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Moonshot AI  |  Released Jul 16, 2026</a:t>
            </a:r>
            <a:endParaRPr 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8412480" y="2944368"/>
            <a:ext cx="31912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for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high-volume, low-cost work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anything that has to be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self-hosted</a:t>
            </a:r>
            <a:endParaRPr lang="en-US" sz="1150" dirty="0"/>
          </a:p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open-weight model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of the three, with 2.8T parameters</a:t>
            </a:r>
            <a:endParaRPr lang="en-US" sz="1150" dirty="0"/>
          </a:p>
          <a:p>
            <a:pPr marL="190500" indent="-190500">
              <a:spcAft>
                <a:spcPts val="700"/>
              </a:spcAft>
              <a:buClr>
                <a:srgbClr val="FFFFFF"/>
              </a:buClr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Cheapest at </a:t>
            </a:r>
            <a:r>
              <a:rPr lang="en-US" sz="115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 / $15 per 1M tokens</a:t>
            </a: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but scores 44 vs. 58 for Opus on the Artificial Analysis index</a:t>
            </a:r>
            <a:endParaRPr lang="en-US" sz="1150" dirty="0"/>
          </a:p>
        </p:txBody>
      </p:sp>
      <p:sp>
        <p:nvSpPr>
          <p:cNvPr id="28" name="TextBox 27"/>
          <p:cNvSpPr txBox="1"/>
          <p:nvPr/>
        </p:nvSpPr>
        <p:spPr>
          <a:xfrm>
            <a:off x="11073384" y="4599432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4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" y="5184648"/>
            <a:ext cx="11612880" cy="10698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50474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640080" y="5413248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5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Opus 5.5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should be the default for most work, given its lead on coding and knowledge-work benchmarks and its </a:t>
            </a:r>
            <a:r>
              <a:rPr lang="en-US" sz="120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lower price than Astra</a:t>
            </a:r>
            <a:endParaRPr lang="en-US" sz="1200" dirty="0"/>
          </a:p>
          <a:p>
            <a:pPr marL="190500" indent="-190500">
              <a:spcAft>
                <a:spcPts val="500"/>
              </a:spcAft>
              <a:buClr>
                <a:srgbClr val="FFFFFF"/>
              </a:buClr>
              <a:buSzPct val="100000"/>
              <a:buChar char="•"/>
            </a:pPr>
            <a:r>
              <a:rPr lang="en-US" sz="120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Astra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worth the premium for specialist work, while </a:t>
            </a:r>
            <a:r>
              <a:rPr lang="en-US" sz="1200" dirty="0">
                <a:solidFill>
                  <a:srgbClr val="5DAA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Kimi K3</a:t>
            </a: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fits teams that need to keep data in-house or cut costs</a:t>
            </a:r>
            <a:endParaRPr lang="en-US" sz="1200" dirty="0"/>
          </a:p>
        </p:txBody>
      </p:sp>
      <p:sp>
        <p:nvSpPr>
          <p:cNvPr id="32" name="TextBox 31"/>
          <p:cNvSpPr txBox="1"/>
          <p:nvPr/>
        </p:nvSpPr>
        <p:spPr>
          <a:xfrm>
            <a:off x="365760" y="642823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F8F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Anthropic, OpenAI, Moonshot AI, Artificial Analysis (Sep 2026). Opus vs. Astra benchmarks as reported by Anthropic.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Models</dc:title>
  <dc:subject/>
  <dc:creator/>
  <cp:lastModifiedBy/>
  <cp:revision>1</cp:revision>
  <dcterms:created xsi:type="dcterms:W3CDTF">2026-09-23T22:27:52Z</dcterms:created>
  <dcterms:modified xsi:type="dcterms:W3CDTF">2026-09-23T22:27:52Z</dcterms:modified>
</cp:coreProperties>
</file>