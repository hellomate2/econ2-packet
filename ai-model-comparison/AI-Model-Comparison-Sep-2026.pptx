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3108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model comparison  |  As of 23 September 2026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548640"/>
            <a:ext cx="11368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top three frontier AI models: Claude Opus 5.5, GPT-6 Astra and Kimi K3</a:t>
            </a:r>
            <a:endParaRPr lang="en-US" sz="2100" dirty="0"/>
          </a:p>
        </p:txBody>
      </p:sp>
      <p:sp>
        <p:nvSpPr>
          <p:cNvPr id="4" name="Straight Connector 3"/>
          <p:cNvSpPr/>
          <p:nvPr/>
        </p:nvSpPr>
        <p:spPr>
          <a:xfrm>
            <a:off x="411480" y="1042416"/>
            <a:ext cx="11368735" cy="0"/>
          </a:xfrm>
          <a:prstGeom prst="line">
            <a:avLst/>
          </a:prstGeom>
          <a:noFill/>
          <a:ln w="12700">
            <a:solidFill>
              <a:srgbClr val="041E42"/>
            </a:solidFill>
            <a:prstDash val="solid"/>
          </a:ln>
        </p:spPr>
      </p:sp>
      <p:sp>
        <p:nvSpPr>
          <p:cNvPr id="5" name="TextBox 4"/>
          <p:cNvSpPr txBox="1"/>
          <p:nvPr/>
        </p:nvSpPr>
        <p:spPr>
          <a:xfrm>
            <a:off x="411480" y="12070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fit</a:t>
            </a:r>
            <a:endParaRPr lang="en-US" sz="1200" dirty="0"/>
          </a:p>
        </p:txBody>
      </p:sp>
      <p:sp>
        <p:nvSpPr>
          <p:cNvPr id="6" name="Oval 5"/>
          <p:cNvSpPr/>
          <p:nvPr/>
        </p:nvSpPr>
        <p:spPr>
          <a:xfrm>
            <a:off x="4416552" y="1252728"/>
            <a:ext cx="137160" cy="13716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" name="TextBox 6"/>
          <p:cNvSpPr txBox="1"/>
          <p:nvPr/>
        </p:nvSpPr>
        <p:spPr>
          <a:xfrm>
            <a:off x="4617720" y="1234440"/>
            <a:ext cx="80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 class</a:t>
            </a:r>
            <a:endParaRPr lang="en-US" sz="850" dirty="0"/>
          </a:p>
        </p:txBody>
      </p:sp>
      <p:sp>
        <p:nvSpPr>
          <p:cNvPr id="8" name="Oval 7"/>
          <p:cNvSpPr/>
          <p:nvPr/>
        </p:nvSpPr>
        <p:spPr>
          <a:xfrm>
            <a:off x="5550408" y="125272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" name="Partial Circle 8"/>
          <p:cNvSpPr/>
          <p:nvPr/>
        </p:nvSpPr>
        <p:spPr>
          <a:xfrm>
            <a:off x="5550408" y="1252728"/>
            <a:ext cx="137160" cy="13716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0" name="TextBox 9"/>
          <p:cNvSpPr txBox="1"/>
          <p:nvPr/>
        </p:nvSpPr>
        <p:spPr>
          <a:xfrm>
            <a:off x="5751576" y="1234440"/>
            <a:ext cx="4754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850" dirty="0"/>
          </a:p>
        </p:txBody>
      </p:sp>
      <p:sp>
        <p:nvSpPr>
          <p:cNvPr id="11" name="Oval 10"/>
          <p:cNvSpPr/>
          <p:nvPr/>
        </p:nvSpPr>
        <p:spPr>
          <a:xfrm>
            <a:off x="6355080" y="125272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2" name="Partial Circle 11"/>
          <p:cNvSpPr/>
          <p:nvPr/>
        </p:nvSpPr>
        <p:spPr>
          <a:xfrm>
            <a:off x="6355080" y="1252728"/>
            <a:ext cx="137160" cy="13716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3" name="TextBox 12"/>
          <p:cNvSpPr txBox="1"/>
          <p:nvPr/>
        </p:nvSpPr>
        <p:spPr>
          <a:xfrm>
            <a:off x="6556248" y="1234440"/>
            <a:ext cx="566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Capable</a:t>
            </a:r>
            <a:endParaRPr lang="en-US" sz="850" dirty="0"/>
          </a:p>
        </p:txBody>
      </p:sp>
      <p:sp>
        <p:nvSpPr>
          <p:cNvPr id="14" name="Oval 13"/>
          <p:cNvSpPr/>
          <p:nvPr/>
        </p:nvSpPr>
        <p:spPr>
          <a:xfrm>
            <a:off x="7251192" y="125272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5" name="Partial Circle 14"/>
          <p:cNvSpPr/>
          <p:nvPr/>
        </p:nvSpPr>
        <p:spPr>
          <a:xfrm>
            <a:off x="7251192" y="1252728"/>
            <a:ext cx="137160" cy="13716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6" name="TextBox 15"/>
          <p:cNvSpPr txBox="1"/>
          <p:nvPr/>
        </p:nvSpPr>
        <p:spPr>
          <a:xfrm>
            <a:off x="7452360" y="1234440"/>
            <a:ext cx="521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850" dirty="0"/>
          </a:p>
        </p:txBody>
      </p:sp>
      <p:sp>
        <p:nvSpPr>
          <p:cNvPr id="17" name="Straight Connector 16"/>
          <p:cNvSpPr/>
          <p:nvPr/>
        </p:nvSpPr>
        <p:spPr>
          <a:xfrm>
            <a:off x="411480" y="155448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8" name="TextBox 17"/>
          <p:cNvSpPr txBox="1"/>
          <p:nvPr/>
        </p:nvSpPr>
        <p:spPr>
          <a:xfrm>
            <a:off x="411480" y="162763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000" dirty="0"/>
          </a:p>
        </p:txBody>
      </p:sp>
      <p:sp>
        <p:nvSpPr>
          <p:cNvPr id="19" name="TextBox 18"/>
          <p:cNvSpPr txBox="1"/>
          <p:nvPr/>
        </p:nvSpPr>
        <p:spPr>
          <a:xfrm>
            <a:off x="2807208" y="16276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000" dirty="0"/>
          </a:p>
        </p:txBody>
      </p:sp>
      <p:sp>
        <p:nvSpPr>
          <p:cNvPr id="20" name="TextBox 19"/>
          <p:cNvSpPr txBox="1"/>
          <p:nvPr/>
        </p:nvSpPr>
        <p:spPr>
          <a:xfrm>
            <a:off x="3648456" y="16276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000" dirty="0"/>
          </a:p>
        </p:txBody>
      </p:sp>
      <p:sp>
        <p:nvSpPr>
          <p:cNvPr id="21" name="TextBox 20"/>
          <p:cNvSpPr txBox="1"/>
          <p:nvPr/>
        </p:nvSpPr>
        <p:spPr>
          <a:xfrm>
            <a:off x="4489704" y="16276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Moonshot AI</a:t>
            </a:r>
            <a:endParaRPr lang="en-US" sz="1000" dirty="0"/>
          </a:p>
        </p:txBody>
      </p:sp>
      <p:sp>
        <p:nvSpPr>
          <p:cNvPr id="22" name="TextBox 21"/>
          <p:cNvSpPr txBox="1"/>
          <p:nvPr/>
        </p:nvSpPr>
        <p:spPr>
          <a:xfrm>
            <a:off x="5440680" y="1627632"/>
            <a:ext cx="244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data point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 vs. Astra unless stated</a:t>
            </a:r>
            <a:endParaRPr lang="en-US" sz="1000" dirty="0"/>
          </a:p>
        </p:txBody>
      </p:sp>
      <p:sp>
        <p:nvSpPr>
          <p:cNvPr id="23" name="Straight Connector 22"/>
          <p:cNvSpPr/>
          <p:nvPr/>
        </p:nvSpPr>
        <p:spPr>
          <a:xfrm>
            <a:off x="411480" y="2029968"/>
            <a:ext cx="7470648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24" name="Rectangle 23"/>
          <p:cNvSpPr/>
          <p:nvPr/>
        </p:nvSpPr>
        <p:spPr>
          <a:xfrm>
            <a:off x="2880360" y="2084832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25" name="TextBox 24"/>
          <p:cNvSpPr txBox="1"/>
          <p:nvPr/>
        </p:nvSpPr>
        <p:spPr>
          <a:xfrm>
            <a:off x="411480" y="2029968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 and migration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agents, refactors, codebase audits</a:t>
            </a:r>
            <a:endParaRPr lang="en-US" sz="1050" dirty="0"/>
          </a:p>
        </p:txBody>
      </p:sp>
      <p:sp>
        <p:nvSpPr>
          <p:cNvPr id="26" name="Oval 25"/>
          <p:cNvSpPr/>
          <p:nvPr/>
        </p:nvSpPr>
        <p:spPr>
          <a:xfrm>
            <a:off x="3136392" y="2231136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7" name="Oval 26"/>
          <p:cNvSpPr/>
          <p:nvPr/>
        </p:nvSpPr>
        <p:spPr>
          <a:xfrm>
            <a:off x="3977640" y="223113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8" name="Partial Circle 27"/>
          <p:cNvSpPr/>
          <p:nvPr/>
        </p:nvSpPr>
        <p:spPr>
          <a:xfrm>
            <a:off x="3977640" y="2231136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29" name="Oval 28"/>
          <p:cNvSpPr/>
          <p:nvPr/>
        </p:nvSpPr>
        <p:spPr>
          <a:xfrm>
            <a:off x="4818888" y="223113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0" name="Partial Circle 29"/>
          <p:cNvSpPr/>
          <p:nvPr/>
        </p:nvSpPr>
        <p:spPr>
          <a:xfrm>
            <a:off x="4818888" y="2231136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1" name="TextBox 30"/>
          <p:cNvSpPr txBox="1"/>
          <p:nvPr/>
        </p:nvSpPr>
        <p:spPr>
          <a:xfrm>
            <a:off x="5440680" y="2029968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 4.0: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57.9%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migrated 680K lines in under a day</a:t>
            </a:r>
            <a:endParaRPr lang="en-US" sz="900" dirty="0"/>
          </a:p>
        </p:txBody>
      </p:sp>
      <p:sp>
        <p:nvSpPr>
          <p:cNvPr id="32" name="Straight Connector 31"/>
          <p:cNvSpPr/>
          <p:nvPr/>
        </p:nvSpPr>
        <p:spPr>
          <a:xfrm>
            <a:off x="411480" y="2615184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33" name="Rectangle 32"/>
          <p:cNvSpPr/>
          <p:nvPr/>
        </p:nvSpPr>
        <p:spPr>
          <a:xfrm>
            <a:off x="2880360" y="2670048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34" name="TextBox 33"/>
          <p:cNvSpPr txBox="1"/>
          <p:nvPr/>
        </p:nvSpPr>
        <p:spPr>
          <a:xfrm>
            <a:off x="411480" y="261518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 and finance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Research, financial modeling, reports</a:t>
            </a:r>
            <a:endParaRPr lang="en-US" sz="1050" dirty="0"/>
          </a:p>
        </p:txBody>
      </p:sp>
      <p:sp>
        <p:nvSpPr>
          <p:cNvPr id="35" name="Oval 34"/>
          <p:cNvSpPr/>
          <p:nvPr/>
        </p:nvSpPr>
        <p:spPr>
          <a:xfrm>
            <a:off x="3136392" y="2816352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6" name="Oval 35"/>
          <p:cNvSpPr/>
          <p:nvPr/>
        </p:nvSpPr>
        <p:spPr>
          <a:xfrm>
            <a:off x="3977640" y="281635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7" name="Partial Circle 36"/>
          <p:cNvSpPr/>
          <p:nvPr/>
        </p:nvSpPr>
        <p:spPr>
          <a:xfrm>
            <a:off x="3977640" y="2816352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8" name="Oval 37"/>
          <p:cNvSpPr/>
          <p:nvPr/>
        </p:nvSpPr>
        <p:spPr>
          <a:xfrm>
            <a:off x="4818888" y="281635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9" name="Partial Circle 38"/>
          <p:cNvSpPr/>
          <p:nvPr/>
        </p:nvSpPr>
        <p:spPr>
          <a:xfrm>
            <a:off x="4818888" y="2816352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0" name="TextBox 39"/>
          <p:cNvSpPr txBox="1"/>
          <p:nvPr/>
        </p:nvSpPr>
        <p:spPr>
          <a:xfrm>
            <a:off x="5440680" y="2615184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GDPval-AA v2.1: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1,846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1,542 Elo; Humanity's Last Exam: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57.2%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900" dirty="0"/>
          </a:p>
        </p:txBody>
      </p:sp>
      <p:sp>
        <p:nvSpPr>
          <p:cNvPr id="41" name="Straight Connector 40"/>
          <p:cNvSpPr/>
          <p:nvPr/>
        </p:nvSpPr>
        <p:spPr>
          <a:xfrm>
            <a:off x="411480" y="320040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42" name="Rectangle 41"/>
          <p:cNvSpPr/>
          <p:nvPr/>
        </p:nvSpPr>
        <p:spPr>
          <a:xfrm>
            <a:off x="2880360" y="3255264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3" name="Rectangle 42"/>
          <p:cNvSpPr/>
          <p:nvPr/>
        </p:nvSpPr>
        <p:spPr>
          <a:xfrm>
            <a:off x="3721608" y="3255264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4" name="TextBox 43"/>
          <p:cNvSpPr txBox="1"/>
          <p:nvPr/>
        </p:nvSpPr>
        <p:spPr>
          <a:xfrm>
            <a:off x="411480" y="3200400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 and automation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Desktop, browser, multi-app workflows</a:t>
            </a:r>
            <a:endParaRPr lang="en-US" sz="1050" dirty="0"/>
          </a:p>
        </p:txBody>
      </p:sp>
      <p:sp>
        <p:nvSpPr>
          <p:cNvPr id="45" name="Oval 44"/>
          <p:cNvSpPr/>
          <p:nvPr/>
        </p:nvSpPr>
        <p:spPr>
          <a:xfrm>
            <a:off x="3136392" y="3401568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6" name="Oval 45"/>
          <p:cNvSpPr/>
          <p:nvPr/>
        </p:nvSpPr>
        <p:spPr>
          <a:xfrm>
            <a:off x="3977640" y="3401568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7" name="Oval 46"/>
          <p:cNvSpPr/>
          <p:nvPr/>
        </p:nvSpPr>
        <p:spPr>
          <a:xfrm>
            <a:off x="4818888" y="340156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8" name="Partial Circle 47"/>
          <p:cNvSpPr/>
          <p:nvPr/>
        </p:nvSpPr>
        <p:spPr>
          <a:xfrm>
            <a:off x="4818888" y="3401568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9" name="TextBox 48"/>
          <p:cNvSpPr txBox="1"/>
          <p:nvPr/>
        </p:nvSpPr>
        <p:spPr>
          <a:xfrm>
            <a:off x="5440680" y="3200400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OSWorld 2.0: 81.8% vs. 72.6%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AutomationBench: 40.0% vs.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41.4%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900" dirty="0"/>
          </a:p>
        </p:txBody>
      </p:sp>
      <p:sp>
        <p:nvSpPr>
          <p:cNvPr id="50" name="Straight Connector 49"/>
          <p:cNvSpPr/>
          <p:nvPr/>
        </p:nvSpPr>
        <p:spPr>
          <a:xfrm>
            <a:off x="411480" y="3785616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51" name="Rectangle 50"/>
          <p:cNvSpPr/>
          <p:nvPr/>
        </p:nvSpPr>
        <p:spPr>
          <a:xfrm>
            <a:off x="3721608" y="3840480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52" name="TextBox 51"/>
          <p:cNvSpPr txBox="1"/>
          <p:nvPr/>
        </p:nvSpPr>
        <p:spPr>
          <a:xfrm>
            <a:off x="411480" y="3785616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and creative software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Blender, Unreal Engine 5</a:t>
            </a:r>
            <a:endParaRPr lang="en-US" sz="1050" dirty="0"/>
          </a:p>
        </p:txBody>
      </p:sp>
      <p:sp>
        <p:nvSpPr>
          <p:cNvPr id="53" name="Oval 52"/>
          <p:cNvSpPr/>
          <p:nvPr/>
        </p:nvSpPr>
        <p:spPr>
          <a:xfrm>
            <a:off x="3136392" y="398678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4" name="Partial Circle 53"/>
          <p:cNvSpPr/>
          <p:nvPr/>
        </p:nvSpPr>
        <p:spPr>
          <a:xfrm>
            <a:off x="3136392" y="3986784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5" name="Oval 54"/>
          <p:cNvSpPr/>
          <p:nvPr/>
        </p:nvSpPr>
        <p:spPr>
          <a:xfrm>
            <a:off x="3977640" y="3986784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6" name="Oval 55"/>
          <p:cNvSpPr/>
          <p:nvPr/>
        </p:nvSpPr>
        <p:spPr>
          <a:xfrm>
            <a:off x="4818888" y="398678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7" name="Partial Circle 56"/>
          <p:cNvSpPr/>
          <p:nvPr/>
        </p:nvSpPr>
        <p:spPr>
          <a:xfrm>
            <a:off x="4818888" y="3986784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8" name="TextBox 57"/>
          <p:cNvSpPr txBox="1"/>
          <p:nvPr/>
        </p:nvSpPr>
        <p:spPr>
          <a:xfrm>
            <a:off x="5440680" y="3785616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 operates Blender and UE5 directly (OpenAI launch demo)</a:t>
            </a:r>
            <a:endParaRPr lang="en-US" sz="900" dirty="0"/>
          </a:p>
        </p:txBody>
      </p:sp>
      <p:sp>
        <p:nvSpPr>
          <p:cNvPr id="59" name="Straight Connector 58"/>
          <p:cNvSpPr/>
          <p:nvPr/>
        </p:nvSpPr>
        <p:spPr>
          <a:xfrm>
            <a:off x="411480" y="4370832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0" name="Rectangle 59"/>
          <p:cNvSpPr/>
          <p:nvPr/>
        </p:nvSpPr>
        <p:spPr>
          <a:xfrm>
            <a:off x="3721608" y="4425696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61" name="TextBox 60"/>
          <p:cNvSpPr txBox="1"/>
          <p:nvPr/>
        </p:nvSpPr>
        <p:spPr>
          <a:xfrm>
            <a:off x="411480" y="4370832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math and science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Research-level math, lab workflows</a:t>
            </a:r>
            <a:endParaRPr lang="en-US" sz="1050" dirty="0"/>
          </a:p>
        </p:txBody>
      </p:sp>
      <p:sp>
        <p:nvSpPr>
          <p:cNvPr id="62" name="Oval 61"/>
          <p:cNvSpPr/>
          <p:nvPr/>
        </p:nvSpPr>
        <p:spPr>
          <a:xfrm>
            <a:off x="3136392" y="45720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3" name="Partial Circle 62"/>
          <p:cNvSpPr/>
          <p:nvPr/>
        </p:nvSpPr>
        <p:spPr>
          <a:xfrm>
            <a:off x="3136392" y="4572000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4" name="Oval 63"/>
          <p:cNvSpPr/>
          <p:nvPr/>
        </p:nvSpPr>
        <p:spPr>
          <a:xfrm>
            <a:off x="3977640" y="4572000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5" name="Oval 64"/>
          <p:cNvSpPr/>
          <p:nvPr/>
        </p:nvSpPr>
        <p:spPr>
          <a:xfrm>
            <a:off x="4818888" y="45720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6" name="Partial Circle 65"/>
          <p:cNvSpPr/>
          <p:nvPr/>
        </p:nvSpPr>
        <p:spPr>
          <a:xfrm>
            <a:off x="4818888" y="4572000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7" name="TextBox 66"/>
          <p:cNvSpPr txBox="1"/>
          <p:nvPr/>
        </p:nvSpPr>
        <p:spPr>
          <a:xfrm>
            <a:off x="5440680" y="4370832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Terminal-Bench-Science: 58.7% vs.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64.6%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FrontierMath Tier 4: Astra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97.6%</a:t>
            </a:r>
            <a:endParaRPr lang="en-US" sz="900" dirty="0"/>
          </a:p>
        </p:txBody>
      </p:sp>
      <p:sp>
        <p:nvSpPr>
          <p:cNvPr id="68" name="Straight Connector 67"/>
          <p:cNvSpPr/>
          <p:nvPr/>
        </p:nvSpPr>
        <p:spPr>
          <a:xfrm>
            <a:off x="411480" y="4956048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9" name="Rectangle 68"/>
          <p:cNvSpPr/>
          <p:nvPr/>
        </p:nvSpPr>
        <p:spPr>
          <a:xfrm>
            <a:off x="4562856" y="5010912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0" name="TextBox 69"/>
          <p:cNvSpPr txBox="1"/>
          <p:nvPr/>
        </p:nvSpPr>
        <p:spPr>
          <a:xfrm>
            <a:off x="411480" y="4956048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High-volume, low-cost work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Classification, extraction, RAG</a:t>
            </a:r>
            <a:endParaRPr lang="en-US" sz="1050" dirty="0"/>
          </a:p>
        </p:txBody>
      </p:sp>
      <p:sp>
        <p:nvSpPr>
          <p:cNvPr id="71" name="Oval 70"/>
          <p:cNvSpPr/>
          <p:nvPr/>
        </p:nvSpPr>
        <p:spPr>
          <a:xfrm>
            <a:off x="3136392" y="515721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2" name="Partial Circle 71"/>
          <p:cNvSpPr/>
          <p:nvPr/>
        </p:nvSpPr>
        <p:spPr>
          <a:xfrm>
            <a:off x="3136392" y="5157216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3" name="Oval 72"/>
          <p:cNvSpPr/>
          <p:nvPr/>
        </p:nvSpPr>
        <p:spPr>
          <a:xfrm>
            <a:off x="3977640" y="515721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4" name="Partial Circle 73"/>
          <p:cNvSpPr/>
          <p:nvPr/>
        </p:nvSpPr>
        <p:spPr>
          <a:xfrm>
            <a:off x="3977640" y="5157216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5" name="Oval 74"/>
          <p:cNvSpPr/>
          <p:nvPr/>
        </p:nvSpPr>
        <p:spPr>
          <a:xfrm>
            <a:off x="4818888" y="5157216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6" name="TextBox 75"/>
          <p:cNvSpPr txBox="1"/>
          <p:nvPr/>
        </p:nvSpPr>
        <p:spPr>
          <a:xfrm>
            <a:off x="5440680" y="4956048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K3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$3/$15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Opus 5.5 $4/$20, Astra $10/$50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price per 1M tokens, input/output</a:t>
            </a:r>
            <a:endParaRPr lang="en-US" sz="900" dirty="0"/>
          </a:p>
        </p:txBody>
      </p:sp>
      <p:sp>
        <p:nvSpPr>
          <p:cNvPr id="77" name="Straight Connector 76"/>
          <p:cNvSpPr/>
          <p:nvPr/>
        </p:nvSpPr>
        <p:spPr>
          <a:xfrm>
            <a:off x="411480" y="5541264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78" name="Rectangle 77"/>
          <p:cNvSpPr/>
          <p:nvPr/>
        </p:nvSpPr>
        <p:spPr>
          <a:xfrm>
            <a:off x="4562856" y="5596128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9" name="TextBox 78"/>
          <p:cNvSpPr txBox="1"/>
          <p:nvPr/>
        </p:nvSpPr>
        <p:spPr>
          <a:xfrm>
            <a:off x="411480" y="554126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and data control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On-prem, private cloud</a:t>
            </a:r>
            <a:endParaRPr lang="en-US" sz="1050" dirty="0"/>
          </a:p>
        </p:txBody>
      </p:sp>
      <p:sp>
        <p:nvSpPr>
          <p:cNvPr id="80" name="TextBox 79"/>
          <p:cNvSpPr txBox="1"/>
          <p:nvPr/>
        </p:nvSpPr>
        <p:spPr>
          <a:xfrm>
            <a:off x="2953512" y="5742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00" dirty="0"/>
          </a:p>
        </p:txBody>
      </p:sp>
      <p:sp>
        <p:nvSpPr>
          <p:cNvPr id="81" name="TextBox 80"/>
          <p:cNvSpPr txBox="1"/>
          <p:nvPr/>
        </p:nvSpPr>
        <p:spPr>
          <a:xfrm>
            <a:off x="3794760" y="5742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00" dirty="0"/>
          </a:p>
        </p:txBody>
      </p:sp>
      <p:sp>
        <p:nvSpPr>
          <p:cNvPr id="82" name="Oval 81"/>
          <p:cNvSpPr/>
          <p:nvPr/>
        </p:nvSpPr>
        <p:spPr>
          <a:xfrm>
            <a:off x="4818888" y="5742432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3" name="TextBox 82"/>
          <p:cNvSpPr txBox="1"/>
          <p:nvPr/>
        </p:nvSpPr>
        <p:spPr>
          <a:xfrm>
            <a:off x="5440680" y="5541264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open-weight model of the three; also on Databricks and Fireworks</a:t>
            </a:r>
            <a:endParaRPr lang="en-US" sz="900" dirty="0"/>
          </a:p>
        </p:txBody>
      </p:sp>
      <p:sp>
        <p:nvSpPr>
          <p:cNvPr id="84" name="Straight Connector 83"/>
          <p:cNvSpPr/>
          <p:nvPr/>
        </p:nvSpPr>
        <p:spPr>
          <a:xfrm>
            <a:off x="411480" y="612648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5" name="TextBox 84"/>
          <p:cNvSpPr txBox="1"/>
          <p:nvPr/>
        </p:nvSpPr>
        <p:spPr>
          <a:xfrm>
            <a:off x="8229600" y="1207008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</a:t>
            </a:r>
            <a:endParaRPr lang="en-US" sz="1200" dirty="0"/>
          </a:p>
        </p:txBody>
      </p:sp>
      <p:sp>
        <p:nvSpPr>
          <p:cNvPr id="86" name="Straight Connector 85"/>
          <p:cNvSpPr/>
          <p:nvPr/>
        </p:nvSpPr>
        <p:spPr>
          <a:xfrm>
            <a:off x="8229600" y="155448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7" name="TextBox 86"/>
          <p:cNvSpPr txBox="1"/>
          <p:nvPr/>
        </p:nvSpPr>
        <p:spPr>
          <a:xfrm>
            <a:off x="8229600" y="1627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1000" dirty="0"/>
          </a:p>
        </p:txBody>
      </p:sp>
      <p:sp>
        <p:nvSpPr>
          <p:cNvPr id="88" name="TextBox 87"/>
          <p:cNvSpPr txBox="1"/>
          <p:nvPr/>
        </p:nvSpPr>
        <p:spPr>
          <a:xfrm>
            <a:off x="9418320" y="1627632"/>
            <a:ext cx="787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Sep 2026</a:t>
            </a:r>
            <a:endParaRPr lang="en-US" sz="1000" dirty="0"/>
          </a:p>
        </p:txBody>
      </p:sp>
      <p:sp>
        <p:nvSpPr>
          <p:cNvPr id="89" name="TextBox 88"/>
          <p:cNvSpPr txBox="1"/>
          <p:nvPr/>
        </p:nvSpPr>
        <p:spPr>
          <a:xfrm>
            <a:off x="10205618" y="1627632"/>
            <a:ext cx="787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Sep 2026</a:t>
            </a:r>
            <a:endParaRPr lang="en-US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92917" y="1627632"/>
            <a:ext cx="787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 2026</a:t>
            </a:r>
            <a:endParaRPr lang="en-US" sz="1000" dirty="0"/>
          </a:p>
        </p:txBody>
      </p:sp>
      <p:sp>
        <p:nvSpPr>
          <p:cNvPr id="91" name="Straight Connector 90"/>
          <p:cNvSpPr/>
          <p:nvPr/>
        </p:nvSpPr>
        <p:spPr>
          <a:xfrm>
            <a:off x="8229600" y="2029968"/>
            <a:ext cx="3550615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92" name="TextBox 91"/>
          <p:cNvSpPr txBox="1"/>
          <p:nvPr/>
        </p:nvSpPr>
        <p:spPr>
          <a:xfrm>
            <a:off x="8229600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900" dirty="0"/>
          </a:p>
        </p:txBody>
      </p:sp>
      <p:sp>
        <p:nvSpPr>
          <p:cNvPr id="93" name="TextBox 92"/>
          <p:cNvSpPr txBox="1"/>
          <p:nvPr/>
        </p:nvSpPr>
        <p:spPr>
          <a:xfrm>
            <a:off x="9418320" y="202996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900" dirty="0"/>
          </a:p>
        </p:txBody>
      </p:sp>
      <p:sp>
        <p:nvSpPr>
          <p:cNvPr id="94" name="TextBox 93"/>
          <p:cNvSpPr txBox="1"/>
          <p:nvPr/>
        </p:nvSpPr>
        <p:spPr>
          <a:xfrm>
            <a:off x="10205618" y="202996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(staged)</a:t>
            </a:r>
            <a:endParaRPr lang="en-US" sz="900" dirty="0"/>
          </a:p>
        </p:txBody>
      </p:sp>
      <p:sp>
        <p:nvSpPr>
          <p:cNvPr id="95" name="TextBox 94"/>
          <p:cNvSpPr txBox="1"/>
          <p:nvPr/>
        </p:nvSpPr>
        <p:spPr>
          <a:xfrm>
            <a:off x="10992917" y="202996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weights</a:t>
            </a:r>
            <a:endParaRPr lang="en-US" sz="900" dirty="0"/>
          </a:p>
        </p:txBody>
      </p:sp>
      <p:sp>
        <p:nvSpPr>
          <p:cNvPr id="96" name="Straight Connector 95"/>
          <p:cNvSpPr/>
          <p:nvPr/>
        </p:nvSpPr>
        <p:spPr>
          <a:xfrm>
            <a:off x="8229600" y="232257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97" name="Rectangle 96"/>
          <p:cNvSpPr/>
          <p:nvPr/>
        </p:nvSpPr>
        <p:spPr>
          <a:xfrm>
            <a:off x="11084357" y="2359152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98" name="TextBox 97"/>
          <p:cNvSpPr txBox="1"/>
          <p:nvPr/>
        </p:nvSpPr>
        <p:spPr>
          <a:xfrm>
            <a:off x="8229600" y="23225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($/1M tokens)</a:t>
            </a:r>
            <a:endParaRPr lang="en-US" sz="900" dirty="0"/>
          </a:p>
        </p:txBody>
      </p:sp>
      <p:sp>
        <p:nvSpPr>
          <p:cNvPr id="99" name="TextBox 98"/>
          <p:cNvSpPr txBox="1"/>
          <p:nvPr/>
        </p:nvSpPr>
        <p:spPr>
          <a:xfrm>
            <a:off x="9418320" y="232257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$4.00</a:t>
            </a:r>
            <a:endParaRPr lang="en-US" sz="900" dirty="0"/>
          </a:p>
        </p:txBody>
      </p:sp>
      <p:sp>
        <p:nvSpPr>
          <p:cNvPr id="100" name="TextBox 99"/>
          <p:cNvSpPr txBox="1"/>
          <p:nvPr/>
        </p:nvSpPr>
        <p:spPr>
          <a:xfrm>
            <a:off x="10205618" y="232257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$10.00</a:t>
            </a:r>
            <a:endParaRPr lang="en-US" sz="900" dirty="0"/>
          </a:p>
        </p:txBody>
      </p:sp>
      <p:sp>
        <p:nvSpPr>
          <p:cNvPr id="101" name="TextBox 100"/>
          <p:cNvSpPr txBox="1"/>
          <p:nvPr/>
        </p:nvSpPr>
        <p:spPr>
          <a:xfrm>
            <a:off x="10992917" y="232257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$3.00</a:t>
            </a:r>
            <a:endParaRPr lang="en-US" sz="900" dirty="0"/>
          </a:p>
        </p:txBody>
      </p:sp>
      <p:sp>
        <p:nvSpPr>
          <p:cNvPr id="102" name="Straight Connector 101"/>
          <p:cNvSpPr/>
          <p:nvPr/>
        </p:nvSpPr>
        <p:spPr>
          <a:xfrm>
            <a:off x="8229600" y="2615184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3" name="Rectangle 102"/>
          <p:cNvSpPr/>
          <p:nvPr/>
        </p:nvSpPr>
        <p:spPr>
          <a:xfrm>
            <a:off x="11084357" y="2651760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04" name="TextBox 103"/>
          <p:cNvSpPr txBox="1"/>
          <p:nvPr/>
        </p:nvSpPr>
        <p:spPr>
          <a:xfrm>
            <a:off x="8229600" y="26151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($/1M tokens)</a:t>
            </a:r>
            <a:endParaRPr lang="en-US" sz="900" dirty="0"/>
          </a:p>
        </p:txBody>
      </p:sp>
      <p:sp>
        <p:nvSpPr>
          <p:cNvPr id="105" name="TextBox 104"/>
          <p:cNvSpPr txBox="1"/>
          <p:nvPr/>
        </p:nvSpPr>
        <p:spPr>
          <a:xfrm>
            <a:off x="9418320" y="2615184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$20.00</a:t>
            </a:r>
            <a:endParaRPr lang="en-US" sz="900" dirty="0"/>
          </a:p>
        </p:txBody>
      </p:sp>
      <p:sp>
        <p:nvSpPr>
          <p:cNvPr id="106" name="TextBox 105"/>
          <p:cNvSpPr txBox="1"/>
          <p:nvPr/>
        </p:nvSpPr>
        <p:spPr>
          <a:xfrm>
            <a:off x="10205618" y="2615184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$50.00</a:t>
            </a:r>
            <a:endParaRPr lang="en-US" sz="900" dirty="0"/>
          </a:p>
        </p:txBody>
      </p:sp>
      <p:sp>
        <p:nvSpPr>
          <p:cNvPr id="107" name="TextBox 106"/>
          <p:cNvSpPr txBox="1"/>
          <p:nvPr/>
        </p:nvSpPr>
        <p:spPr>
          <a:xfrm>
            <a:off x="10992917" y="2615184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$15.00</a:t>
            </a:r>
            <a:endParaRPr lang="en-US" sz="900" dirty="0"/>
          </a:p>
        </p:txBody>
      </p:sp>
      <p:sp>
        <p:nvSpPr>
          <p:cNvPr id="108" name="Straight Connector 107"/>
          <p:cNvSpPr/>
          <p:nvPr/>
        </p:nvSpPr>
        <p:spPr>
          <a:xfrm>
            <a:off x="8229600" y="2907792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9" name="Rectangle 108"/>
          <p:cNvSpPr/>
          <p:nvPr/>
        </p:nvSpPr>
        <p:spPr>
          <a:xfrm>
            <a:off x="9509760" y="2944368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10" name="TextBox 109"/>
          <p:cNvSpPr txBox="1"/>
          <p:nvPr/>
        </p:nvSpPr>
        <p:spPr>
          <a:xfrm>
            <a:off x="8229600" y="29077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input ($/1M)</a:t>
            </a:r>
            <a:endParaRPr lang="en-US" sz="900" dirty="0"/>
          </a:p>
        </p:txBody>
      </p:sp>
      <p:sp>
        <p:nvSpPr>
          <p:cNvPr id="111" name="TextBox 110"/>
          <p:cNvSpPr txBox="1"/>
          <p:nvPr/>
        </p:nvSpPr>
        <p:spPr>
          <a:xfrm>
            <a:off x="9418320" y="2907792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$0.20</a:t>
            </a:r>
            <a:endParaRPr lang="en-US" sz="900" dirty="0"/>
          </a:p>
        </p:txBody>
      </p:sp>
      <p:sp>
        <p:nvSpPr>
          <p:cNvPr id="112" name="TextBox 111"/>
          <p:cNvSpPr txBox="1"/>
          <p:nvPr/>
        </p:nvSpPr>
        <p:spPr>
          <a:xfrm>
            <a:off x="10205618" y="2907792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$1.00</a:t>
            </a:r>
            <a:endParaRPr lang="en-US" sz="9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0992917" y="2907792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</a:t>
            </a:r>
            <a:endParaRPr lang="en-US" sz="900" dirty="0"/>
          </a:p>
        </p:txBody>
      </p:sp>
      <p:sp>
        <p:nvSpPr>
          <p:cNvPr id="114" name="Straight Connector 113"/>
          <p:cNvSpPr/>
          <p:nvPr/>
        </p:nvSpPr>
        <p:spPr>
          <a:xfrm>
            <a:off x="8229600" y="320040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5" name="TextBox 114"/>
          <p:cNvSpPr txBox="1"/>
          <p:nvPr/>
        </p:nvSpPr>
        <p:spPr>
          <a:xfrm>
            <a:off x="8229600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(tokens)</a:t>
            </a:r>
            <a:endParaRPr lang="en-US" sz="900" dirty="0"/>
          </a:p>
        </p:txBody>
      </p:sp>
      <p:sp>
        <p:nvSpPr>
          <p:cNvPr id="116" name="TextBox 115"/>
          <p:cNvSpPr txBox="1"/>
          <p:nvPr/>
        </p:nvSpPr>
        <p:spPr>
          <a:xfrm>
            <a:off x="9418320" y="3200400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900" dirty="0"/>
          </a:p>
        </p:txBody>
      </p:sp>
      <p:sp>
        <p:nvSpPr>
          <p:cNvPr id="117" name="TextBox 116"/>
          <p:cNvSpPr txBox="1"/>
          <p:nvPr/>
        </p:nvSpPr>
        <p:spPr>
          <a:xfrm>
            <a:off x="10205618" y="3200400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1.05M</a:t>
            </a:r>
            <a:endParaRPr lang="en-US" sz="900" dirty="0"/>
          </a:p>
        </p:txBody>
      </p:sp>
      <p:sp>
        <p:nvSpPr>
          <p:cNvPr id="118" name="TextBox 117"/>
          <p:cNvSpPr txBox="1"/>
          <p:nvPr/>
        </p:nvSpPr>
        <p:spPr>
          <a:xfrm>
            <a:off x="10992917" y="3200400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900" dirty="0"/>
          </a:p>
        </p:txBody>
      </p:sp>
      <p:sp>
        <p:nvSpPr>
          <p:cNvPr id="119" name="Straight Connector 118"/>
          <p:cNvSpPr/>
          <p:nvPr/>
        </p:nvSpPr>
        <p:spPr>
          <a:xfrm>
            <a:off x="8229600" y="3493008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0" name="TextBox 119"/>
          <p:cNvSpPr txBox="1"/>
          <p:nvPr/>
        </p:nvSpPr>
        <p:spPr>
          <a:xfrm>
            <a:off x="8229600" y="34930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900" dirty="0"/>
          </a:p>
        </p:txBody>
      </p:sp>
      <p:sp>
        <p:nvSpPr>
          <p:cNvPr id="121" name="TextBox 120"/>
          <p:cNvSpPr txBox="1"/>
          <p:nvPr/>
        </p:nvSpPr>
        <p:spPr>
          <a:xfrm>
            <a:off x="9418320" y="349300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900" dirty="0"/>
          </a:p>
        </p:txBody>
      </p:sp>
      <p:sp>
        <p:nvSpPr>
          <p:cNvPr id="122" name="TextBox 121"/>
          <p:cNvSpPr txBox="1"/>
          <p:nvPr/>
        </p:nvSpPr>
        <p:spPr>
          <a:xfrm>
            <a:off x="10205618" y="349300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900" dirty="0"/>
          </a:p>
        </p:txBody>
      </p:sp>
      <p:sp>
        <p:nvSpPr>
          <p:cNvPr id="123" name="TextBox 122"/>
          <p:cNvSpPr txBox="1"/>
          <p:nvPr/>
        </p:nvSpPr>
        <p:spPr>
          <a:xfrm>
            <a:off x="10992917" y="349300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2.8T MoE</a:t>
            </a:r>
            <a:endParaRPr lang="en-US" sz="900" dirty="0"/>
          </a:p>
        </p:txBody>
      </p:sp>
      <p:sp>
        <p:nvSpPr>
          <p:cNvPr id="124" name="Straight Connector 123"/>
          <p:cNvSpPr/>
          <p:nvPr/>
        </p:nvSpPr>
        <p:spPr>
          <a:xfrm>
            <a:off x="8229600" y="378561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5" name="Rectangle 124"/>
          <p:cNvSpPr/>
          <p:nvPr/>
        </p:nvSpPr>
        <p:spPr>
          <a:xfrm>
            <a:off x="9509760" y="3822192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26" name="TextBox 125"/>
          <p:cNvSpPr txBox="1"/>
          <p:nvPr/>
        </p:nvSpPr>
        <p:spPr>
          <a:xfrm>
            <a:off x="8229600" y="37856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Intelligence Index</a:t>
            </a:r>
            <a:pPr indent="0" marL="0">
              <a:buNone/>
            </a:pPr>
            <a:r>
              <a:rPr lang="en-US" sz="9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900" dirty="0"/>
          </a:p>
        </p:txBody>
      </p:sp>
      <p:sp>
        <p:nvSpPr>
          <p:cNvPr id="127" name="TextBox 126"/>
          <p:cNvSpPr txBox="1"/>
          <p:nvPr/>
        </p:nvSpPr>
        <p:spPr>
          <a:xfrm>
            <a:off x="9418320" y="378561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128" name="TextBox 127"/>
          <p:cNvSpPr txBox="1"/>
          <p:nvPr/>
        </p:nvSpPr>
        <p:spPr>
          <a:xfrm>
            <a:off x="10205618" y="378561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129" name="TextBox 128"/>
          <p:cNvSpPr txBox="1"/>
          <p:nvPr/>
        </p:nvSpPr>
        <p:spPr>
          <a:xfrm>
            <a:off x="10992917" y="378561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30" name="Straight Connector 129"/>
          <p:cNvSpPr/>
          <p:nvPr/>
        </p:nvSpPr>
        <p:spPr>
          <a:xfrm>
            <a:off x="8229600" y="4078224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31" name="TextBox 130"/>
          <p:cNvSpPr txBox="1"/>
          <p:nvPr/>
        </p:nvSpPr>
        <p:spPr>
          <a:xfrm>
            <a:off x="8229600" y="4315968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use</a:t>
            </a:r>
            <a:endParaRPr lang="en-US" sz="1200" dirty="0"/>
          </a:p>
        </p:txBody>
      </p:sp>
      <p:sp>
        <p:nvSpPr>
          <p:cNvPr id="132" name="Straight Connector 131"/>
          <p:cNvSpPr/>
          <p:nvPr/>
        </p:nvSpPr>
        <p:spPr>
          <a:xfrm>
            <a:off x="8229600" y="466344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33" name="TextBox 132"/>
          <p:cNvSpPr txBox="1"/>
          <p:nvPr/>
        </p:nvSpPr>
        <p:spPr>
          <a:xfrm>
            <a:off x="8229600" y="466344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000" dirty="0"/>
          </a:p>
        </p:txBody>
      </p:sp>
      <p:sp>
        <p:nvSpPr>
          <p:cNvPr id="134" name="TextBox 133"/>
          <p:cNvSpPr txBox="1"/>
          <p:nvPr/>
        </p:nvSpPr>
        <p:spPr>
          <a:xfrm>
            <a:off x="9253728" y="4663440"/>
            <a:ext cx="25264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for</a:t>
            </a:r>
            <a:endParaRPr lang="en-US" sz="1000" dirty="0"/>
          </a:p>
        </p:txBody>
      </p:sp>
      <p:sp>
        <p:nvSpPr>
          <p:cNvPr id="135" name="Straight Connector 134"/>
          <p:cNvSpPr/>
          <p:nvPr/>
        </p:nvSpPr>
        <p:spPr>
          <a:xfrm>
            <a:off x="8229600" y="4956048"/>
            <a:ext cx="3550615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136" name="TextBox 135"/>
          <p:cNvSpPr txBox="1"/>
          <p:nvPr/>
        </p:nvSpPr>
        <p:spPr>
          <a:xfrm>
            <a:off x="8229600" y="4956048"/>
            <a:ext cx="102412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900" dirty="0"/>
          </a:p>
        </p:txBody>
      </p:sp>
      <p:sp>
        <p:nvSpPr>
          <p:cNvPr id="137" name="TextBox 136"/>
          <p:cNvSpPr txBox="1"/>
          <p:nvPr/>
        </p:nvSpPr>
        <p:spPr>
          <a:xfrm>
            <a:off x="9253728" y="4956048"/>
            <a:ext cx="2526487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for coding, agents and analyst work; c.60% below Astra at list price</a:t>
            </a:r>
            <a:endParaRPr lang="en-US" sz="900" dirty="0"/>
          </a:p>
        </p:txBody>
      </p:sp>
      <p:sp>
        <p:nvSpPr>
          <p:cNvPr id="138" name="Straight Connector 137"/>
          <p:cNvSpPr/>
          <p:nvPr/>
        </p:nvSpPr>
        <p:spPr>
          <a:xfrm>
            <a:off x="8229600" y="5346192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39" name="TextBox 138"/>
          <p:cNvSpPr txBox="1"/>
          <p:nvPr/>
        </p:nvSpPr>
        <p:spPr>
          <a:xfrm>
            <a:off x="8229600" y="5346192"/>
            <a:ext cx="102412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900" dirty="0"/>
          </a:p>
        </p:txBody>
      </p:sp>
      <p:sp>
        <p:nvSpPr>
          <p:cNvPr id="140" name="TextBox 139"/>
          <p:cNvSpPr txBox="1"/>
          <p:nvPr/>
        </p:nvSpPr>
        <p:spPr>
          <a:xfrm>
            <a:off x="9253728" y="5346192"/>
            <a:ext cx="2526487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and creative tools, frontier math and science</a:t>
            </a:r>
            <a:endParaRPr lang="en-US" sz="900" dirty="0"/>
          </a:p>
        </p:txBody>
      </p:sp>
      <p:sp>
        <p:nvSpPr>
          <p:cNvPr id="141" name="Straight Connector 140"/>
          <p:cNvSpPr/>
          <p:nvPr/>
        </p:nvSpPr>
        <p:spPr>
          <a:xfrm>
            <a:off x="8229600" y="573633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42" name="TextBox 141"/>
          <p:cNvSpPr txBox="1"/>
          <p:nvPr/>
        </p:nvSpPr>
        <p:spPr>
          <a:xfrm>
            <a:off x="8229600" y="5736336"/>
            <a:ext cx="102412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900" dirty="0"/>
          </a:p>
        </p:txBody>
      </p:sp>
      <p:sp>
        <p:nvSpPr>
          <p:cNvPr id="143" name="TextBox 142"/>
          <p:cNvSpPr txBox="1"/>
          <p:nvPr/>
        </p:nvSpPr>
        <p:spPr>
          <a:xfrm>
            <a:off x="9253728" y="5736336"/>
            <a:ext cx="2526487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data (self-hosted) and high-volume, low-cost work</a:t>
            </a:r>
            <a:endParaRPr lang="en-US" sz="900" dirty="0"/>
          </a:p>
        </p:txBody>
      </p:sp>
      <p:sp>
        <p:nvSpPr>
          <p:cNvPr id="144" name="Straight Connector 143"/>
          <p:cNvSpPr/>
          <p:nvPr/>
        </p:nvSpPr>
        <p:spPr>
          <a:xfrm>
            <a:off x="8229600" y="612648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45" name="TextBox 144"/>
          <p:cNvSpPr txBox="1"/>
          <p:nvPr/>
        </p:nvSpPr>
        <p:spPr>
          <a:xfrm>
            <a:off x="411480" y="6254496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Ratings are analyst judgment; shading marks the leader in each row. Prices are list API rates. Parameter counts are not disclosed by Anthropic or OpenAI. </a:t>
            </a:r>
            <a:pPr indent="0" marL="0">
              <a:buNone/>
            </a:pPr>
            <a:r>
              <a:rPr lang="en-US" sz="7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reported by Anthropic. </a:t>
            </a:r>
            <a:pPr indent="0" marL="0">
              <a:buNone/>
            </a:pPr>
            <a:r>
              <a:rPr lang="en-US" sz="7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Vendors used different test settings. </a:t>
            </a:r>
            <a:pPr indent="0" marL="0">
              <a:buNone/>
            </a:pPr>
            <a:r>
              <a:rPr lang="en-US" sz="7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Analysis, v4.3.</a:t>
            </a:r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 (22 Sep 2026); OpenAI (3 Sep 2026); Moonshot AI (16 Jul 2026); Artificial Analysis</a:t>
            </a:r>
            <a:endParaRPr lang="en-US" sz="750" dirty="0"/>
          </a:p>
        </p:txBody>
      </p:sp>
      <p:sp>
        <p:nvSpPr>
          <p:cNvPr id="146" name="TextBox 145"/>
          <p:cNvSpPr txBox="1"/>
          <p:nvPr/>
        </p:nvSpPr>
        <p:spPr>
          <a:xfrm>
            <a:off x="11505895" y="638251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comparison, Sep 2026</dc:title>
  <dc:subject/>
  <dc:creator/>
  <cp:lastModifiedBy/>
  <cp:revision>1</cp:revision>
  <dcterms:created xsi:type="dcterms:W3CDTF">2026-09-23T17:45:05Z</dcterms:created>
  <dcterms:modified xsi:type="dcterms:W3CDTF">2026-09-23T17:45:05Z</dcterms:modified>
</cp:coreProperties>
</file>