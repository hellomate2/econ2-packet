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920240"/>
            <a:ext cx="1600200" cy="1600200"/>
          </a:xfrm>
          <a:prstGeom prst="rect">
            <a:avLst/>
          </a:prstGeom>
        </p:spPr>
      </p:pic>
      <p:sp>
        <p:nvSpPr>
          <p:cNvPr id="4" name="Straight Connector 3"/>
          <p:cNvSpPr/>
          <p:nvPr/>
        </p:nvSpPr>
        <p:spPr>
          <a:xfrm>
            <a:off x="5138928" y="2487168"/>
            <a:ext cx="457200" cy="45720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5" name="Straight Connector 4"/>
          <p:cNvSpPr/>
          <p:nvPr/>
        </p:nvSpPr>
        <p:spPr>
          <a:xfrm flipV="1">
            <a:off x="5138928" y="2487168"/>
            <a:ext cx="457200" cy="45720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035040" y="202996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Speaker Series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6071616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 2026  ·  Professional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3703320" y="1234440"/>
            <a:ext cx="4754880" cy="4754880"/>
          </a:xfrm>
          <a:prstGeom prst="rect">
            <a:avLst/>
          </a:prstGeom>
        </p:spPr>
      </p:pic>
      <p:sp>
        <p:nvSpPr>
          <p:cNvPr id="3" name="Straight Connector 2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About This Deck</a:t>
            </a:r>
            <a:endParaRPr lang="en-US" sz="4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Professional Development committee's shortlist of talk ideas for the pledge class this fall.</a:t>
            </a:r>
            <a:endParaRPr lang="en-US" sz="19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two-thirds of the class wants to go into software engineering and about a third into finance or quant, with a few people leaning toward health tech. We looked for topics that are specific, recent, and not something you'd get from a careers page, then figured out who could actually give each one.</a:t>
            </a:r>
            <a:endParaRPr lang="en-US" sz="19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idea comes with one question worth asking that speaker. At the end we rank our favorites and cover how we'll reach out.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a speaker lead or an idea we missed? Send it to the PD chairs.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4389120" y="246888"/>
            <a:ext cx="6309360" cy="6309360"/>
          </a:xfrm>
          <a:prstGeom prst="ellipse">
            <a:avLst/>
          </a:prstGeom>
          <a:solidFill>
            <a:srgbClr val="22347F"/>
          </a:solidFill>
          <a:ln w="12700">
            <a:solidFill>
              <a:srgbClr val="22347F"/>
            </a:solidFill>
            <a:prstDash val="solid"/>
          </a:ln>
        </p:spPr>
      </p:sp>
      <p:sp>
        <p:nvSpPr>
          <p:cNvPr id="3" name="Oval 2"/>
          <p:cNvSpPr/>
          <p:nvPr/>
        </p:nvSpPr>
        <p:spPr>
          <a:xfrm>
            <a:off x="-5120640" y="-484632"/>
            <a:ext cx="7772400" cy="7772400"/>
          </a:xfrm>
          <a:prstGeom prst="ellipse">
            <a:avLst/>
          </a:prstGeom>
          <a:ln w="15875">
            <a:solidFill>
              <a:srgbClr val="7C94FF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1571874" y="402336"/>
            <a:ext cx="475488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5366634" y="402336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5458074" y="4023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257674" y="4023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Engineering</a:t>
            </a:r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1206114" y="34747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418" y="493776"/>
            <a:ext cx="438912" cy="438912"/>
          </a:xfrm>
          <a:prstGeom prst="rect">
            <a:avLst/>
          </a:prstGeom>
        </p:spPr>
      </p:pic>
      <p:sp>
        <p:nvSpPr>
          <p:cNvPr id="10" name="Shape 9"/>
          <p:cNvSpPr/>
          <p:nvPr/>
        </p:nvSpPr>
        <p:spPr>
          <a:xfrm>
            <a:off x="2373224" y="164592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11" name="Rectangle 10"/>
          <p:cNvSpPr/>
          <p:nvPr/>
        </p:nvSpPr>
        <p:spPr>
          <a:xfrm>
            <a:off x="6488024" y="1645920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6579464" y="1645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9024" y="164592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800" dirty="0"/>
          </a:p>
        </p:txBody>
      </p:sp>
      <p:sp>
        <p:nvSpPr>
          <p:cNvPr id="14" name="Oval 13"/>
          <p:cNvSpPr/>
          <p:nvPr/>
        </p:nvSpPr>
        <p:spPr>
          <a:xfrm>
            <a:off x="2007464" y="1591056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768" y="1737360"/>
            <a:ext cx="438912" cy="438912"/>
          </a:xfrm>
          <a:prstGeom prst="rect">
            <a:avLst/>
          </a:prstGeom>
        </p:spPr>
      </p:pic>
      <p:sp>
        <p:nvSpPr>
          <p:cNvPr id="16" name="Shape 15"/>
          <p:cNvSpPr/>
          <p:nvPr/>
        </p:nvSpPr>
        <p:spPr>
          <a:xfrm>
            <a:off x="2646550" y="2889504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17" name="Rectangle 16"/>
          <p:cNvSpPr/>
          <p:nvPr/>
        </p:nvSpPr>
        <p:spPr>
          <a:xfrm>
            <a:off x="7081390" y="2889504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7172830" y="28895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3332350" y="288950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800" dirty="0"/>
          </a:p>
        </p:txBody>
      </p:sp>
      <p:sp>
        <p:nvSpPr>
          <p:cNvPr id="20" name="Oval 19"/>
          <p:cNvSpPr/>
          <p:nvPr/>
        </p:nvSpPr>
        <p:spPr>
          <a:xfrm>
            <a:off x="2280790" y="283464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094" y="2980944"/>
            <a:ext cx="438912" cy="438912"/>
          </a:xfrm>
          <a:prstGeom prst="rect">
            <a:avLst/>
          </a:prstGeom>
        </p:spPr>
      </p:pic>
      <p:sp>
        <p:nvSpPr>
          <p:cNvPr id="22" name="Shape 21"/>
          <p:cNvSpPr/>
          <p:nvPr/>
        </p:nvSpPr>
        <p:spPr>
          <a:xfrm>
            <a:off x="2509344" y="4133088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23" name="Rectangle 22"/>
          <p:cNvSpPr/>
          <p:nvPr/>
        </p:nvSpPr>
        <p:spPr>
          <a:xfrm>
            <a:off x="6624144" y="4133088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6715584" y="413308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3195144" y="41330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800" dirty="0"/>
          </a:p>
        </p:txBody>
      </p:sp>
      <p:sp>
        <p:nvSpPr>
          <p:cNvPr id="26" name="Oval 25"/>
          <p:cNvSpPr/>
          <p:nvPr/>
        </p:nvSpPr>
        <p:spPr>
          <a:xfrm>
            <a:off x="2143584" y="4078224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888" y="4224528"/>
            <a:ext cx="438912" cy="438912"/>
          </a:xfrm>
          <a:prstGeom prst="rect">
            <a:avLst/>
          </a:prstGeom>
        </p:spPr>
      </p:pic>
      <p:sp>
        <p:nvSpPr>
          <p:cNvPr id="28" name="Shape 27"/>
          <p:cNvSpPr/>
          <p:nvPr/>
        </p:nvSpPr>
        <p:spPr>
          <a:xfrm>
            <a:off x="1908290" y="5376672"/>
            <a:ext cx="4754880" cy="621792"/>
          </a:xfrm>
          <a:prstGeom prst="roundRect">
            <a:avLst>
              <a:gd name="adj" fmla="val 14706"/>
            </a:avLst>
          </a:prstGeom>
          <a:solidFill>
            <a:srgbClr val="0F1740"/>
          </a:solidFill>
          <a:ln w="12700">
            <a:solidFill>
              <a:srgbClr val="7C94FF"/>
            </a:solidFill>
            <a:prstDash val="solid"/>
          </a:ln>
        </p:spPr>
      </p:sp>
      <p:sp>
        <p:nvSpPr>
          <p:cNvPr id="29" name="Rectangle 28"/>
          <p:cNvSpPr/>
          <p:nvPr/>
        </p:nvSpPr>
        <p:spPr>
          <a:xfrm>
            <a:off x="5703050" y="5376672"/>
            <a:ext cx="64008" cy="621792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794490" y="537667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2594090" y="537667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32" name="Oval 31"/>
          <p:cNvSpPr/>
          <p:nvPr/>
        </p:nvSpPr>
        <p:spPr>
          <a:xfrm>
            <a:off x="1542530" y="532180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834" y="5468112"/>
            <a:ext cx="438912" cy="438912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Software Engineering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3648456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3785616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35844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Systems &amp; Scale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4306824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4443984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42428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Low-Level &amp; Performance</a:t>
            </a:r>
            <a:endParaRPr lang="en-US" sz="1600" dirty="0"/>
          </a:p>
        </p:txBody>
      </p:sp>
      <p:sp>
        <p:nvSpPr>
          <p:cNvPr id="13" name="Oval 12"/>
          <p:cNvSpPr/>
          <p:nvPr/>
        </p:nvSpPr>
        <p:spPr>
          <a:xfrm>
            <a:off x="76352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4" name="Straight Connector 13"/>
          <p:cNvSpPr/>
          <p:nvPr/>
        </p:nvSpPr>
        <p:spPr>
          <a:xfrm>
            <a:off x="79095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0982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 + AI</a:t>
            </a:r>
            <a:endParaRPr lang="en-US" sz="1600" dirty="0"/>
          </a:p>
        </p:txBody>
      </p:sp>
      <p:sp>
        <p:nvSpPr>
          <p:cNvPr id="16" name="Oval 15"/>
          <p:cNvSpPr/>
          <p:nvPr/>
        </p:nvSpPr>
        <p:spPr>
          <a:xfrm>
            <a:off x="80924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7" name="Straight Connector 16"/>
          <p:cNvSpPr/>
          <p:nvPr/>
        </p:nvSpPr>
        <p:spPr>
          <a:xfrm>
            <a:off x="83667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95554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Weird &amp; Fun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SWE: Systems &amp; Scale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breaks when millions of people hit the same system at once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627632"/>
            <a:ext cx="3520440" cy="4425696"/>
          </a:xfrm>
          <a:prstGeom prst="roundRect">
            <a:avLst>
              <a:gd name="adj" fmla="val 363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822960" y="1920240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2044598"/>
            <a:ext cx="373075" cy="373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63240" y="1956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Shape 19"/>
          <p:cNvSpPr/>
          <p:nvPr/>
        </p:nvSpPr>
        <p:spPr>
          <a:xfrm>
            <a:off x="1783080" y="14721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1783080" y="1472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2724912"/>
            <a:ext cx="2971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DNS Bug That Broke the Internet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Oct 2025, one empty DNS record inside AWS took down Venmo, Snapchat, Fortnite and Canvas.</a:t>
            </a:r>
            <a:endParaRPr lang="en-US" sz="1900" dirty="0"/>
          </a:p>
        </p:txBody>
      </p:sp>
      <p:sp>
        <p:nvSpPr>
          <p:cNvPr id="23" name="Straight Connector 22"/>
          <p:cNvSpPr/>
          <p:nvPr/>
        </p:nvSpPr>
        <p:spPr>
          <a:xfrm>
            <a:off x="822960" y="454456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822960" y="459028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or incident commander at a cloud provider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do you check first when everything is red?</a:t>
            </a:r>
            <a:endParaRPr lang="en-US" sz="1400" dirty="0"/>
          </a:p>
        </p:txBody>
      </p:sp>
      <p:sp>
        <p:nvSpPr>
          <p:cNvPr id="25" name="Shape 24"/>
          <p:cNvSpPr/>
          <p:nvPr/>
        </p:nvSpPr>
        <p:spPr>
          <a:xfrm>
            <a:off x="4334256" y="1627632"/>
            <a:ext cx="3520440" cy="4425696"/>
          </a:xfrm>
          <a:prstGeom prst="roundRect">
            <a:avLst>
              <a:gd name="adj" fmla="val 363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6" name="Oval 25"/>
          <p:cNvSpPr/>
          <p:nvPr/>
        </p:nvSpPr>
        <p:spPr>
          <a:xfrm>
            <a:off x="4608576" y="1920240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370" y="2057034"/>
            <a:ext cx="348204" cy="3482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48856" y="1956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200" dirty="0"/>
          </a:p>
        </p:txBody>
      </p:sp>
      <p:sp>
        <p:nvSpPr>
          <p:cNvPr id="29" name="TextBox 28"/>
          <p:cNvSpPr txBox="1"/>
          <p:nvPr/>
        </p:nvSpPr>
        <p:spPr>
          <a:xfrm>
            <a:off x="4608576" y="2724912"/>
            <a:ext cx="2971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Database, 800 Million Users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 runs ChatGPT on one Postgres primary and about 50 read replicas, with no sharding.</a:t>
            </a:r>
            <a:endParaRPr lang="en-US" sz="1900" dirty="0"/>
          </a:p>
        </p:txBody>
      </p:sp>
      <p:sp>
        <p:nvSpPr>
          <p:cNvPr id="30" name="Straight Connector 29"/>
          <p:cNvSpPr/>
          <p:nvPr/>
        </p:nvSpPr>
        <p:spPr>
          <a:xfrm>
            <a:off x="4608576" y="454456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4608576" y="459028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 or infra engineer at an AI 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When do you finally give up and shard?</a:t>
            </a:r>
            <a:endParaRPr lang="en-US" sz="1400" dirty="0"/>
          </a:p>
        </p:txBody>
      </p:sp>
      <p:sp>
        <p:nvSpPr>
          <p:cNvPr id="32" name="Shape 31"/>
          <p:cNvSpPr/>
          <p:nvPr/>
        </p:nvSpPr>
        <p:spPr>
          <a:xfrm>
            <a:off x="8119872" y="1627632"/>
            <a:ext cx="3520440" cy="4425696"/>
          </a:xfrm>
          <a:prstGeom prst="roundRect">
            <a:avLst>
              <a:gd name="adj" fmla="val 363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3" name="Oval 32"/>
          <p:cNvSpPr/>
          <p:nvPr/>
        </p:nvSpPr>
        <p:spPr>
          <a:xfrm>
            <a:off x="8394192" y="1920240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986" y="2057034"/>
            <a:ext cx="348204" cy="3482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634472" y="19568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Box 35"/>
          <p:cNvSpPr txBox="1"/>
          <p:nvPr/>
        </p:nvSpPr>
        <p:spPr>
          <a:xfrm>
            <a:off x="8394192" y="2724912"/>
            <a:ext cx="29718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Moving Every Discord Message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Discord moved every message it stores to ScyllaDB and went from 177 database nodes to 72.</a:t>
            </a:r>
            <a:endParaRPr lang="en-US" sz="1900" dirty="0"/>
          </a:p>
        </p:txBody>
      </p:sp>
      <p:sp>
        <p:nvSpPr>
          <p:cNvPr id="37" name="Straight Connector 36"/>
          <p:cNvSpPr/>
          <p:nvPr/>
        </p:nvSpPr>
        <p:spPr>
          <a:xfrm>
            <a:off x="8394192" y="454456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8" name="TextBox 37"/>
          <p:cNvSpPr txBox="1"/>
          <p:nvPr/>
        </p:nvSpPr>
        <p:spPr>
          <a:xfrm>
            <a:off x="8394192" y="459028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engineer at a big consumer 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test a migration you only get to run once?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SWE: Low-Level &amp; Performance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 the people who want to know what the computer is doing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traight Connector 15"/>
          <p:cNvSpPr/>
          <p:nvPr/>
        </p:nvSpPr>
        <p:spPr>
          <a:xfrm>
            <a:off x="1280160" y="1938528"/>
            <a:ext cx="7571232" cy="0"/>
          </a:xfrm>
          <a:prstGeom prst="line">
            <a:avLst/>
          </a:prstGeom>
          <a:noFill/>
          <a:ln w="12700">
            <a:solidFill>
              <a:srgbClr val="8FA8FF"/>
            </a:solidFill>
            <a:prstDash val="dash"/>
          </a:ln>
        </p:spPr>
      </p:sp>
      <p:sp>
        <p:nvSpPr>
          <p:cNvPr id="17" name="Oval 16"/>
          <p:cNvSpPr/>
          <p:nvPr/>
        </p:nvSpPr>
        <p:spPr>
          <a:xfrm>
            <a:off x="548640" y="15727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1733702"/>
            <a:ext cx="409651" cy="4096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24871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Rust Is in the Kernel Now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7.0 shipped in April with Rust officially out of "experimental." New drivers are being written in it.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Systems engineer on Android, Cloudflare or a kernel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does Rust still get in your way?</a:t>
            </a:r>
            <a:endParaRPr lang="en-US" sz="1200" dirty="0"/>
          </a:p>
        </p:txBody>
      </p:sp>
      <p:sp>
        <p:nvSpPr>
          <p:cNvPr id="21" name="Oval 20"/>
          <p:cNvSpPr/>
          <p:nvPr/>
        </p:nvSpPr>
        <p:spPr>
          <a:xfrm>
            <a:off x="4334256" y="15727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190" y="1733702"/>
            <a:ext cx="409651" cy="4096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34256" y="24871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Kernel Behind Every Chatbot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GPU kernels decide how fast and cheap AI gets, and most of the speedup comes from moving memory.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4334256" y="3886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GPU performance engineer at NVIDIA or an AI 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know a kernel is maxed out?</a:t>
            </a:r>
            <a:endParaRPr lang="en-US" sz="1200" dirty="0"/>
          </a:p>
        </p:txBody>
      </p:sp>
      <p:sp>
        <p:nvSpPr>
          <p:cNvPr id="25" name="Oval 24"/>
          <p:cNvSpPr/>
          <p:nvPr/>
        </p:nvSpPr>
        <p:spPr>
          <a:xfrm>
            <a:off x="8119872" y="15727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1719072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19872" y="24871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Your Code Is Slow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flame graphs to find the one-line change that makes a service 10x faster.</a:t>
            </a:r>
            <a:endParaRPr lang="en-US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8119872" y="3886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engineer at a trading firm or big tech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the biggest win you got from a tiny change?</a:t>
            </a:r>
            <a:endParaRPr lang="en-US" sz="1200" dirty="0"/>
          </a:p>
        </p:txBody>
      </p:sp>
      <p:sp>
        <p:nvSpPr>
          <p:cNvPr id="29" name="Shape 28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30" name="Shape 29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with Rust.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It's the most concrete of the three, and anyone who has taken CS 61C or CS 162 will follow it.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an NVIDIA alum says yes to the GPU talk, take it. That's the hardest speaker here to get.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 + AI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job is changing, so ask people doing it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36192"/>
            <a:ext cx="3931920" cy="4517136"/>
          </a:xfrm>
          <a:prstGeom prst="roundRect">
            <a:avLst>
              <a:gd name="adj" fmla="val 325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TextBox 16"/>
          <p:cNvSpPr txBox="1"/>
          <p:nvPr/>
        </p:nvSpPr>
        <p:spPr>
          <a:xfrm>
            <a:off x="548640" y="18288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75%</a:t>
            </a:r>
            <a:endParaRPr lang="en-US" sz="6600"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28163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Google's new code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written by AI</a:t>
            </a:r>
            <a:endParaRPr lang="en-US" sz="1500" dirty="0"/>
          </a:p>
        </p:txBody>
      </p:sp>
      <p:sp>
        <p:nvSpPr>
          <p:cNvPr id="19" name="Straight Connector 18"/>
          <p:cNvSpPr/>
          <p:nvPr/>
        </p:nvSpPr>
        <p:spPr>
          <a:xfrm>
            <a:off x="1874520" y="3566160"/>
            <a:ext cx="1280160" cy="0"/>
          </a:xfrm>
          <a:prstGeom prst="line">
            <a:avLst/>
          </a:prstGeom>
          <a:noFill/>
          <a:ln w="12700">
            <a:solidFill>
              <a:srgbClr val="8FA8FF"/>
            </a:solidFill>
            <a:prstDash val="solid"/>
          </a:ln>
        </p:spPr>
      </p:sp>
      <p:sp>
        <p:nvSpPr>
          <p:cNvPr id="20" name="TextBox 19"/>
          <p:cNvSpPr txBox="1"/>
          <p:nvPr/>
        </p:nvSpPr>
        <p:spPr>
          <a:xfrm>
            <a:off x="86868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Sundar Pichai, April 2026. In late 2024 it was about a quarter, and Microsoft has said 20 to 30%. What we want to know is what the day-to-day looks like now.</a:t>
            </a:r>
            <a:endParaRPr lang="en-US" sz="1300" dirty="0"/>
          </a:p>
        </p:txBody>
      </p:sp>
      <p:sp>
        <p:nvSpPr>
          <p:cNvPr id="21" name="Shape 20"/>
          <p:cNvSpPr/>
          <p:nvPr/>
        </p:nvSpPr>
        <p:spPr>
          <a:xfrm>
            <a:off x="4754880" y="1536192"/>
            <a:ext cx="6885432" cy="1408176"/>
          </a:xfrm>
          <a:prstGeom prst="roundRect">
            <a:avLst>
              <a:gd name="adj" fmla="val 909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2" name="Shape 21"/>
          <p:cNvSpPr/>
          <p:nvPr/>
        </p:nvSpPr>
        <p:spPr>
          <a:xfrm>
            <a:off x="4983480" y="13807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4983480" y="13807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24" name="Oval 23"/>
          <p:cNvSpPr/>
          <p:nvPr/>
        </p:nvSpPr>
        <p:spPr>
          <a:xfrm>
            <a:off x="5010912" y="1929384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06" y="2066178"/>
            <a:ext cx="348204" cy="3482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52160" y="16459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75% of Google's New Code Is Written by AI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Sundar Pichai's number from April 2026. In late 2024 it was about a quarter.</a:t>
            </a:r>
            <a:endParaRPr lang="en-US" sz="1500" dirty="0"/>
          </a:p>
        </p:txBody>
      </p:sp>
      <p:sp>
        <p:nvSpPr>
          <p:cNvPr id="27" name="Straight Connector 26"/>
          <p:cNvSpPr/>
          <p:nvPr/>
        </p:nvSpPr>
        <p:spPr>
          <a:xfrm>
            <a:off x="9253728" y="1737360"/>
            <a:ext cx="0" cy="100584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8" name="TextBox 27"/>
          <p:cNvSpPr txBox="1"/>
          <p:nvPr/>
        </p:nvSpPr>
        <p:spPr>
          <a:xfrm>
            <a:off x="9418320" y="1645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 who led an AI coding rollout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do you look for in new grads now?</a:t>
            </a:r>
            <a:endParaRPr lang="en-US" sz="1200" dirty="0"/>
          </a:p>
        </p:txBody>
      </p:sp>
      <p:sp>
        <p:nvSpPr>
          <p:cNvPr id="29" name="Shape 28"/>
          <p:cNvSpPr/>
          <p:nvPr/>
        </p:nvSpPr>
        <p:spPr>
          <a:xfrm>
            <a:off x="4754880" y="3090672"/>
            <a:ext cx="6885432" cy="1408176"/>
          </a:xfrm>
          <a:prstGeom prst="roundRect">
            <a:avLst>
              <a:gd name="adj" fmla="val 909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0" name="Oval 29"/>
          <p:cNvSpPr/>
          <p:nvPr/>
        </p:nvSpPr>
        <p:spPr>
          <a:xfrm>
            <a:off x="5010912" y="3483864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3608222"/>
            <a:ext cx="373075" cy="3730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52160" y="3200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Testing an LLM Before Users Do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teams catch a model update that breaks their product.</a:t>
            </a:r>
            <a:endParaRPr lang="en-US" sz="1500" dirty="0"/>
          </a:p>
        </p:txBody>
      </p:sp>
      <p:sp>
        <p:nvSpPr>
          <p:cNvPr id="33" name="Straight Connector 32"/>
          <p:cNvSpPr/>
          <p:nvPr/>
        </p:nvSpPr>
        <p:spPr>
          <a:xfrm>
            <a:off x="9253728" y="3291840"/>
            <a:ext cx="0" cy="100584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4" name="TextBox 33"/>
          <p:cNvSpPr txBox="1"/>
          <p:nvPr/>
        </p:nvSpPr>
        <p:spPr>
          <a:xfrm>
            <a:off x="9418320" y="320040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Applied AI engineer shipping LLM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an eval that caught something a human missed?</a:t>
            </a:r>
            <a:endParaRPr lang="en-US" sz="1200" dirty="0"/>
          </a:p>
        </p:txBody>
      </p:sp>
      <p:sp>
        <p:nvSpPr>
          <p:cNvPr id="35" name="Shape 34"/>
          <p:cNvSpPr/>
          <p:nvPr/>
        </p:nvSpPr>
        <p:spPr>
          <a:xfrm>
            <a:off x="4754880" y="4645152"/>
            <a:ext cx="6885432" cy="1408176"/>
          </a:xfrm>
          <a:prstGeom prst="roundRect">
            <a:avLst>
              <a:gd name="adj" fmla="val 909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6" name="Oval 35"/>
          <p:cNvSpPr/>
          <p:nvPr/>
        </p:nvSpPr>
        <p:spPr>
          <a:xfrm>
            <a:off x="5010912" y="5038344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70" y="5162702"/>
            <a:ext cx="373075" cy="3730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52160" y="47548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AI Keeps Getting Cheaper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Kimi K3 has 2.8T parameters but only runs 104B of them per token. Tricks like that keep pushing prices down.</a:t>
            </a:r>
            <a:endParaRPr lang="en-US" sz="1500" dirty="0"/>
          </a:p>
        </p:txBody>
      </p:sp>
      <p:sp>
        <p:nvSpPr>
          <p:cNvPr id="39" name="Straight Connector 38"/>
          <p:cNvSpPr/>
          <p:nvPr/>
        </p:nvSpPr>
        <p:spPr>
          <a:xfrm>
            <a:off x="9253728" y="4846320"/>
            <a:ext cx="0" cy="100584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40" name="TextBox 39"/>
          <p:cNvSpPr txBox="1"/>
          <p:nvPr/>
        </p:nvSpPr>
        <p:spPr>
          <a:xfrm>
            <a:off x="9418320" y="475488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 engineer at Fireworks or Baseten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the real bottleneck now: chips, memory or power?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Weird &amp; Fun SWE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career payoff, just great stories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36192"/>
            <a:ext cx="5120640" cy="603504"/>
          </a:xfrm>
          <a:prstGeom prst="roundRect">
            <a:avLst>
              <a:gd name="adj" fmla="val 12121"/>
            </a:avLst>
          </a:prstGeom>
          <a:solidFill>
            <a:srgbClr val="2B3E9E"/>
          </a:solidFill>
          <a:ln w="12700">
            <a:solidFill>
              <a:srgbClr val="2B3E9E"/>
            </a:solidFill>
            <a:prstDash val="solid"/>
          </a:ln>
        </p:spPr>
      </p:sp>
      <p:sp>
        <p:nvSpPr>
          <p:cNvPr id="17" name="Shape 16"/>
          <p:cNvSpPr/>
          <p:nvPr/>
        </p:nvSpPr>
        <p:spPr>
          <a:xfrm>
            <a:off x="6519672" y="1536192"/>
            <a:ext cx="5120640" cy="603504"/>
          </a:xfrm>
          <a:prstGeom prst="roundRect">
            <a:avLst>
              <a:gd name="adj" fmla="val 12121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548640" y="15361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Rebuilding Mario 64 From Scratch</a:t>
            </a:r>
            <a:endParaRPr lang="en-US" sz="1700" dirty="0"/>
          </a:p>
        </p:txBody>
      </p:sp>
      <p:sp>
        <p:nvSpPr>
          <p:cNvPr id="19" name="TextBox 18"/>
          <p:cNvSpPr txBox="1"/>
          <p:nvPr/>
        </p:nvSpPr>
        <p:spPr>
          <a:xfrm>
            <a:off x="6519672" y="15361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Fighting Games Rewind Time</a:t>
            </a:r>
            <a:endParaRPr lang="en-US" sz="1700" dirty="0"/>
          </a:p>
        </p:txBody>
      </p:sp>
      <p:sp>
        <p:nvSpPr>
          <p:cNvPr id="20" name="Oval 19"/>
          <p:cNvSpPr/>
          <p:nvPr/>
        </p:nvSpPr>
        <p:spPr>
          <a:xfrm>
            <a:off x="5638648" y="1380744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563624"/>
            <a:ext cx="548640" cy="548640"/>
          </a:xfrm>
          <a:prstGeom prst="rect">
            <a:avLst/>
          </a:prstGeom>
        </p:spPr>
      </p:pic>
      <p:sp>
        <p:nvSpPr>
          <p:cNvPr id="22" name="Straight Connector 21"/>
          <p:cNvSpPr/>
          <p:nvPr/>
        </p:nvSpPr>
        <p:spPr>
          <a:xfrm>
            <a:off x="6095848" y="2450592"/>
            <a:ext cx="0" cy="3511296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731520" y="25420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2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talk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Fans turned the original N64 game back into readable C code. Fan-made PC ports now run it natively, some at 60fps.</a:t>
            </a:r>
            <a:endParaRPr lang="en-US" sz="1500" dirty="0"/>
          </a:p>
        </p:txBody>
      </p:sp>
      <p:sp>
        <p:nvSpPr>
          <p:cNvPr id="24" name="TextBox 23"/>
          <p:cNvSpPr txBox="1"/>
          <p:nvPr/>
        </p:nvSpPr>
        <p:spPr>
          <a:xfrm>
            <a:off x="6702552" y="25420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talk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Rollback netcode guesses your opponent's input, then rewinds a few frames when it guesses wrong. Street Fighter 6 runs on it.</a:t>
            </a:r>
            <a:endParaRPr lang="en-US" sz="1500" dirty="0"/>
          </a:p>
        </p:txBody>
      </p:sp>
      <p:sp>
        <p:nvSpPr>
          <p:cNvPr id="25" name="Straight Connector 24"/>
          <p:cNvSpPr/>
          <p:nvPr/>
        </p:nvSpPr>
        <p:spPr>
          <a:xfrm>
            <a:off x="1371600" y="3547872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6" name="Straight Connector 25"/>
          <p:cNvSpPr/>
          <p:nvPr/>
        </p:nvSpPr>
        <p:spPr>
          <a:xfrm>
            <a:off x="7342632" y="3547872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731520" y="3694176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2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Reverse engineer or security researcher</a:t>
            </a:r>
            <a:endParaRPr lang="en-US" sz="1500" dirty="0"/>
          </a:p>
        </p:txBody>
      </p:sp>
      <p:sp>
        <p:nvSpPr>
          <p:cNvPr id="28" name="TextBox 27"/>
          <p:cNvSpPr txBox="1"/>
          <p:nvPr/>
        </p:nvSpPr>
        <p:spPr>
          <a:xfrm>
            <a:off x="6702552" y="3694176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Netcode engineer at a game studio</a:t>
            </a:r>
            <a:endParaRPr lang="en-US" sz="1500" dirty="0"/>
          </a:p>
        </p:txBody>
      </p:sp>
      <p:sp>
        <p:nvSpPr>
          <p:cNvPr id="29" name="Straight Connector 28"/>
          <p:cNvSpPr/>
          <p:nvPr/>
        </p:nvSpPr>
        <p:spPr>
          <a:xfrm>
            <a:off x="1371600" y="4700016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0" name="Straight Connector 29"/>
          <p:cNvSpPr/>
          <p:nvPr/>
        </p:nvSpPr>
        <p:spPr>
          <a:xfrm>
            <a:off x="7342632" y="4700016"/>
            <a:ext cx="347472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731520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9FB2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read code never meant to be read?</a:t>
            </a:r>
            <a:endParaRPr lang="en-US" sz="1500" dirty="0"/>
          </a:p>
        </p:txBody>
      </p:sp>
      <p:sp>
        <p:nvSpPr>
          <p:cNvPr id="32" name="TextBox 31"/>
          <p:cNvSpPr txBox="1"/>
          <p:nvPr/>
        </p:nvSpPr>
        <p:spPr>
          <a:xfrm>
            <a:off x="6702552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many frames can you rewind unnoticed?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Finance &amp; Quant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Trading &amp; Market Structure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 × Finance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Trading &amp; Market Structure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trading firms make money, and the tech behind it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627632"/>
            <a:ext cx="5349240" cy="4425696"/>
          </a:xfrm>
          <a:prstGeom prst="roundRect">
            <a:avLst>
              <a:gd name="adj" fmla="val 2893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Shape 16"/>
          <p:cNvSpPr/>
          <p:nvPr/>
        </p:nvSpPr>
        <p:spPr>
          <a:xfrm>
            <a:off x="2697480" y="14721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2697480" y="1472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19" name="Oval 18"/>
          <p:cNvSpPr/>
          <p:nvPr/>
        </p:nvSpPr>
        <p:spPr>
          <a:xfrm>
            <a:off x="868680" y="1975104"/>
            <a:ext cx="77724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30552"/>
            <a:ext cx="466344" cy="4663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4632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Box 21"/>
          <p:cNvSpPr txBox="1"/>
          <p:nvPr/>
        </p:nvSpPr>
        <p:spPr>
          <a:xfrm>
            <a:off x="868680" y="2953512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Microseconds Are Money</a:t>
            </a:r>
            <a:endParaRPr lang="en-US" sz="2100" dirty="0"/>
          </a:p>
          <a:p>
            <a:pPr indent="0" marL="0">
              <a:buNone/>
            </a:pPr>
            <a:r>
              <a:rPr lang="en-US" sz="14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 moves about 50% faster through air than through glass fiber, so trading firms built microwave towers from Chicago to New Jersey.</a:t>
            </a:r>
            <a:endParaRPr lang="en-US" sz="2100" dirty="0"/>
          </a:p>
        </p:txBody>
      </p:sp>
      <p:sp>
        <p:nvSpPr>
          <p:cNvPr id="23" name="Straight Connector 22"/>
          <p:cNvSpPr/>
          <p:nvPr/>
        </p:nvSpPr>
        <p:spPr>
          <a:xfrm>
            <a:off x="868680" y="4645152"/>
            <a:ext cx="470916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4" name="TextBox 23"/>
          <p:cNvSpPr txBox="1"/>
          <p:nvPr/>
        </p:nvSpPr>
        <p:spPr>
          <a:xfrm>
            <a:off x="868680" y="4782312"/>
            <a:ext cx="4709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3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Low-latency engineer at Jump, HRT, Optiver or Citadel Securities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3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does the next microsecond come from?</a:t>
            </a:r>
            <a:endParaRPr lang="en-US" sz="1350" dirty="0"/>
          </a:p>
        </p:txBody>
      </p:sp>
      <p:sp>
        <p:nvSpPr>
          <p:cNvPr id="25" name="Shape 24"/>
          <p:cNvSpPr/>
          <p:nvPr/>
        </p:nvSpPr>
        <p:spPr>
          <a:xfrm>
            <a:off x="6172200" y="1627632"/>
            <a:ext cx="5468112" cy="2130552"/>
          </a:xfrm>
          <a:prstGeom prst="roundRect">
            <a:avLst>
              <a:gd name="adj" fmla="val 6009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6" name="Oval 25"/>
          <p:cNvSpPr/>
          <p:nvPr/>
        </p:nvSpPr>
        <p:spPr>
          <a:xfrm>
            <a:off x="6428232" y="1901952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2022653"/>
            <a:ext cx="362102" cy="362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52760" y="19019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200" dirty="0"/>
          </a:p>
        </p:txBody>
      </p:sp>
      <p:sp>
        <p:nvSpPr>
          <p:cNvPr id="29" name="TextBox 28"/>
          <p:cNvSpPr txBox="1"/>
          <p:nvPr/>
        </p:nvSpPr>
        <p:spPr>
          <a:xfrm>
            <a:off x="7223760" y="1847088"/>
            <a:ext cx="3456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How Market Makers Actually Make Money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be right about the price and still lose money. Here's why.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223760" y="2980944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 trader at Optiver, IMC or SIG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 been right and still lost money?</a:t>
            </a:r>
            <a:endParaRPr lang="en-US" sz="1250" dirty="0"/>
          </a:p>
        </p:txBody>
      </p:sp>
      <p:sp>
        <p:nvSpPr>
          <p:cNvPr id="31" name="Shape 30"/>
          <p:cNvSpPr/>
          <p:nvPr/>
        </p:nvSpPr>
        <p:spPr>
          <a:xfrm>
            <a:off x="6172200" y="3922776"/>
            <a:ext cx="5468112" cy="2130552"/>
          </a:xfrm>
          <a:prstGeom prst="roundRect">
            <a:avLst>
              <a:gd name="adj" fmla="val 6009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2" name="Oval 31"/>
          <p:cNvSpPr/>
          <p:nvPr/>
        </p:nvSpPr>
        <p:spPr>
          <a:xfrm>
            <a:off x="6428232" y="4197096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933" y="4317797"/>
            <a:ext cx="362102" cy="36210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652760" y="4197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Box 34"/>
          <p:cNvSpPr txBox="1"/>
          <p:nvPr/>
        </p:nvSpPr>
        <p:spPr>
          <a:xfrm>
            <a:off x="7223760" y="4142232"/>
            <a:ext cx="3456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Betting on Everything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Kalshi and Polymarket traded $53B in July, up from under $5B last September. Most of it is sports.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7223760" y="5276088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Trader on an event-contracts desk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Where does retail lose the most edge?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 × Finance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SWE jobs that touch money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81912"/>
            <a:ext cx="5440680" cy="3154680"/>
          </a:xfrm>
          <a:prstGeom prst="roundRect">
            <a:avLst>
              <a:gd name="adj" fmla="val 4058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822960" y="1856232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013143"/>
            <a:ext cx="399410" cy="3994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8348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Box 19"/>
          <p:cNvSpPr txBox="1"/>
          <p:nvPr/>
        </p:nvSpPr>
        <p:spPr>
          <a:xfrm>
            <a:off x="1737360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1" name="TextBox 20"/>
          <p:cNvSpPr txBox="1"/>
          <p:nvPr/>
        </p:nvSpPr>
        <p:spPr>
          <a:xfrm>
            <a:off x="1737360" y="21671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Charging a Card Exactly Once</a:t>
            </a:r>
            <a:endParaRPr lang="en-US" sz="1750" dirty="0"/>
          </a:p>
        </p:txBody>
      </p:sp>
      <p:sp>
        <p:nvSpPr>
          <p:cNvPr id="22" name="Straight Connector 21"/>
          <p:cNvSpPr/>
          <p:nvPr/>
        </p:nvSpPr>
        <p:spPr>
          <a:xfrm>
            <a:off x="822960" y="2770632"/>
            <a:ext cx="489204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822960" y="295351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Retries and idempotency keys, and why a double charge is fintech's worst bug.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engineer at Stripe, Ramp or Brex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What's the worst money bug you've seen reach production?</a:t>
            </a:r>
            <a:endParaRPr lang="en-US" sz="1500" dirty="0"/>
          </a:p>
        </p:txBody>
      </p:sp>
      <p:sp>
        <p:nvSpPr>
          <p:cNvPr id="24" name="Shape 23"/>
          <p:cNvSpPr/>
          <p:nvPr/>
        </p:nvSpPr>
        <p:spPr>
          <a:xfrm>
            <a:off x="6199632" y="1581912"/>
            <a:ext cx="5440680" cy="3154680"/>
          </a:xfrm>
          <a:prstGeom prst="roundRect">
            <a:avLst>
              <a:gd name="adj" fmla="val 4058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5" name="Oval 24"/>
          <p:cNvSpPr/>
          <p:nvPr/>
        </p:nvSpPr>
        <p:spPr>
          <a:xfrm>
            <a:off x="6473952" y="1856232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863" y="2013143"/>
            <a:ext cx="399410" cy="3994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34472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9FB2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TextBox 27"/>
          <p:cNvSpPr txBox="1"/>
          <p:nvPr/>
        </p:nvSpPr>
        <p:spPr>
          <a:xfrm>
            <a:off x="7388352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STABLECOINS</a:t>
            </a:r>
            <a:endParaRPr lang="en-US" sz="1050" dirty="0"/>
          </a:p>
        </p:txBody>
      </p:sp>
      <p:sp>
        <p:nvSpPr>
          <p:cNvPr id="29" name="TextBox 28"/>
          <p:cNvSpPr txBox="1"/>
          <p:nvPr/>
        </p:nvSpPr>
        <p:spPr>
          <a:xfrm>
            <a:off x="7388352" y="21671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Stablecoins Got a Rulebook</a:t>
            </a:r>
            <a:endParaRPr lang="en-US" sz="1750" dirty="0"/>
          </a:p>
        </p:txBody>
      </p:sp>
      <p:sp>
        <p:nvSpPr>
          <p:cNvPr id="30" name="Straight Connector 29"/>
          <p:cNvSpPr/>
          <p:nvPr/>
        </p:nvSpPr>
        <p:spPr>
          <a:xfrm>
            <a:off x="6473952" y="2770632"/>
            <a:ext cx="489204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6473952" y="295351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GENIUS Act became law in July 2025. This year banks and fintechs started building on it.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4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Digital-assets lead at a bank or fintech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40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Would you run payroll on stablecoins today?</a:t>
            </a:r>
            <a:endParaRPr lang="en-US" sz="1500" dirty="0"/>
          </a:p>
        </p:txBody>
      </p:sp>
      <p:sp>
        <p:nvSpPr>
          <p:cNvPr id="32" name="Shape 31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33" name="Shape 32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4" name="TextBox 33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5" name="TextBox 34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Payments wins this one.</a:t>
            </a: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Every SWE will write a retry loop someday, and this talk shows what happens when it's wrong.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stablecoin talk is better for the finance people who want to understand what banks are building right now.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Health Tech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306824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4443984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2428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 the Exam Room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Regulated Software</a:t>
            </a:r>
            <a:endParaRPr lang="en-US" sz="1600" dirty="0"/>
          </a:p>
        </p:txBody>
      </p:sp>
      <p:sp>
        <p:nvSpPr>
          <p:cNvPr id="13" name="Oval 12"/>
          <p:cNvSpPr/>
          <p:nvPr/>
        </p:nvSpPr>
        <p:spPr>
          <a:xfrm>
            <a:off x="76352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4" name="Straight Connector 13"/>
          <p:cNvSpPr/>
          <p:nvPr/>
        </p:nvSpPr>
        <p:spPr>
          <a:xfrm>
            <a:off x="79095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0982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Data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Health Tech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Software where a bug can hurt a patient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traight Connector 15"/>
          <p:cNvSpPr/>
          <p:nvPr/>
        </p:nvSpPr>
        <p:spPr>
          <a:xfrm>
            <a:off x="7543800" y="1673352"/>
            <a:ext cx="0" cy="4242816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548640" y="1905000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058619"/>
            <a:ext cx="460858" cy="4608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1627632"/>
            <a:ext cx="571500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AI That Writes Your Doctor's Notes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Epic launched AI Charting in February 2026. Abridge, already in 300+ health systems, is valued at $5.3B.</a:t>
            </a:r>
            <a:endParaRPr lang="en-US" sz="1700" dirty="0"/>
          </a:p>
        </p:txBody>
      </p:sp>
      <p:sp>
        <p:nvSpPr>
          <p:cNvPr id="20" name="Shape 19"/>
          <p:cNvSpPr/>
          <p:nvPr/>
        </p:nvSpPr>
        <p:spPr>
          <a:xfrm>
            <a:off x="2121408" y="1508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2121408" y="1508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0F174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PICK</a:t>
            </a:r>
            <a:endParaRPr lang="en-US" sz="950" dirty="0"/>
          </a:p>
        </p:txBody>
      </p:sp>
      <p:sp>
        <p:nvSpPr>
          <p:cNvPr id="22" name="TextBox 21"/>
          <p:cNvSpPr txBox="1"/>
          <p:nvPr/>
        </p:nvSpPr>
        <p:spPr>
          <a:xfrm>
            <a:off x="7772400" y="1627632"/>
            <a:ext cx="386791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 at Abridge or a similar startup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happens when it mishears a dosage?</a:t>
            </a:r>
            <a:endParaRPr lang="en-US" sz="1250" dirty="0"/>
          </a:p>
        </p:txBody>
      </p:sp>
      <p:sp>
        <p:nvSpPr>
          <p:cNvPr id="23" name="Straight Connector 22"/>
          <p:cNvSpPr/>
          <p:nvPr/>
        </p:nvSpPr>
        <p:spPr>
          <a:xfrm>
            <a:off x="548640" y="3041904"/>
            <a:ext cx="11091672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548640" y="341071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3564331"/>
            <a:ext cx="460858" cy="46085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00200" y="3133344"/>
            <a:ext cx="571500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Software the FDA Signs Off On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1,500 AI devices are FDA-cleared, and most of them read medical images.</a:t>
            </a:r>
            <a:endParaRPr lang="en-US" sz="1700" dirty="0"/>
          </a:p>
        </p:txBody>
      </p:sp>
      <p:sp>
        <p:nvSpPr>
          <p:cNvPr id="27" name="TextBox 26"/>
          <p:cNvSpPr txBox="1"/>
          <p:nvPr/>
        </p:nvSpPr>
        <p:spPr>
          <a:xfrm>
            <a:off x="7772400" y="3133344"/>
            <a:ext cx="386791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or regulatory engineer in medtech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do you update a model the FDA already cleared?</a:t>
            </a:r>
            <a:endParaRPr lang="en-US" sz="1250" dirty="0"/>
          </a:p>
        </p:txBody>
      </p:sp>
      <p:sp>
        <p:nvSpPr>
          <p:cNvPr id="28" name="Straight Connector 27"/>
          <p:cNvSpPr/>
          <p:nvPr/>
        </p:nvSpPr>
        <p:spPr>
          <a:xfrm>
            <a:off x="548640" y="4547616"/>
            <a:ext cx="11091672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9" name="Oval 28"/>
          <p:cNvSpPr/>
          <p:nvPr/>
        </p:nvSpPr>
        <p:spPr>
          <a:xfrm>
            <a:off x="548640" y="4916424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070043"/>
            <a:ext cx="460858" cy="4608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4639056"/>
            <a:ext cx="571500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Your Medical Records Finally Have an API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 1,000 Epic hospitals are on TEFCA, the national records network, and FHIR APIs let apps pull a patient's records.</a:t>
            </a:r>
            <a:endParaRPr lang="en-US" sz="1700" dirty="0"/>
          </a:p>
        </p:txBody>
      </p:sp>
      <p:sp>
        <p:nvSpPr>
          <p:cNvPr id="32" name="TextBox 31"/>
          <p:cNvSpPr txBox="1"/>
          <p:nvPr/>
        </p:nvSpPr>
        <p:spPr>
          <a:xfrm>
            <a:off x="7772400" y="4639056"/>
            <a:ext cx="386791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Book  </a:t>
            </a: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Interoperability engineer at Epic or a health-data startup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DB51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 </a:t>
            </a:r>
            <a:r>
              <a:rPr lang="en-US" sz="1250" i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did this take until 2026?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Picks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Talk Spotlights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Top 5 for a Mixed Room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Ranked by how much of the whole class would care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536192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TextBox 16"/>
          <p:cNvSpPr txBox="1"/>
          <p:nvPr/>
        </p:nvSpPr>
        <p:spPr>
          <a:xfrm>
            <a:off x="804672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1691640" y="1719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Microseconds Are Money</a:t>
            </a:r>
            <a:endParaRPr lang="en-US" sz="1550" dirty="0"/>
          </a:p>
        </p:txBody>
      </p:sp>
      <p:sp>
        <p:nvSpPr>
          <p:cNvPr id="19" name="Straight Connector 18"/>
          <p:cNvSpPr/>
          <p:nvPr/>
        </p:nvSpPr>
        <p:spPr>
          <a:xfrm>
            <a:off x="822960" y="257860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0" name="TextBox 19"/>
          <p:cNvSpPr txBox="1"/>
          <p:nvPr/>
        </p:nvSpPr>
        <p:spPr>
          <a:xfrm>
            <a:off x="82296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one talk both the SWEs and the quants will care about.</a:t>
            </a:r>
            <a:endParaRPr lang="en-US" sz="1300" dirty="0"/>
          </a:p>
        </p:txBody>
      </p:sp>
      <p:sp>
        <p:nvSpPr>
          <p:cNvPr id="21" name="Shape 20"/>
          <p:cNvSpPr/>
          <p:nvPr/>
        </p:nvSpPr>
        <p:spPr>
          <a:xfrm>
            <a:off x="4334256" y="1536192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2" name="TextBox 21"/>
          <p:cNvSpPr txBox="1"/>
          <p:nvPr/>
        </p:nvSpPr>
        <p:spPr>
          <a:xfrm>
            <a:off x="4590288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3600" dirty="0"/>
          </a:p>
        </p:txBody>
      </p:sp>
      <p:sp>
        <p:nvSpPr>
          <p:cNvPr id="23" name="TextBox 22"/>
          <p:cNvSpPr txBox="1"/>
          <p:nvPr/>
        </p:nvSpPr>
        <p:spPr>
          <a:xfrm>
            <a:off x="5477256" y="1719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75% of Google's New Code Is Written by AI</a:t>
            </a:r>
            <a:endParaRPr lang="en-US" sz="1550" dirty="0"/>
          </a:p>
        </p:txBody>
      </p:sp>
      <p:sp>
        <p:nvSpPr>
          <p:cNvPr id="24" name="Straight Connector 23"/>
          <p:cNvSpPr/>
          <p:nvPr/>
        </p:nvSpPr>
        <p:spPr>
          <a:xfrm>
            <a:off x="4608576" y="257860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25" name="TextBox 24"/>
          <p:cNvSpPr txBox="1"/>
          <p:nvPr/>
        </p:nvSpPr>
        <p:spPr>
          <a:xfrm>
            <a:off x="4608576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Everyone wants to know what this means for their first job.</a:t>
            </a:r>
            <a:endParaRPr lang="en-US" sz="1300" dirty="0"/>
          </a:p>
        </p:txBody>
      </p:sp>
      <p:sp>
        <p:nvSpPr>
          <p:cNvPr id="26" name="Shape 25"/>
          <p:cNvSpPr/>
          <p:nvPr/>
        </p:nvSpPr>
        <p:spPr>
          <a:xfrm>
            <a:off x="8119872" y="1536192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8375904" y="1737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3600" dirty="0"/>
          </a:p>
        </p:txBody>
      </p:sp>
      <p:sp>
        <p:nvSpPr>
          <p:cNvPr id="28" name="TextBox 27"/>
          <p:cNvSpPr txBox="1"/>
          <p:nvPr/>
        </p:nvSpPr>
        <p:spPr>
          <a:xfrm>
            <a:off x="9262872" y="17190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Betting on Everything</a:t>
            </a:r>
            <a:endParaRPr lang="en-US" sz="1550" dirty="0"/>
          </a:p>
        </p:txBody>
      </p:sp>
      <p:sp>
        <p:nvSpPr>
          <p:cNvPr id="29" name="Straight Connector 28"/>
          <p:cNvSpPr/>
          <p:nvPr/>
        </p:nvSpPr>
        <p:spPr>
          <a:xfrm>
            <a:off x="8394192" y="2578608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8394192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10x growth in a year, with pricing and exchange tech in one talk.</a:t>
            </a:r>
            <a:endParaRPr lang="en-US" sz="1300" dirty="0"/>
          </a:p>
        </p:txBody>
      </p:sp>
      <p:sp>
        <p:nvSpPr>
          <p:cNvPr id="31" name="Shape 30"/>
          <p:cNvSpPr/>
          <p:nvPr/>
        </p:nvSpPr>
        <p:spPr>
          <a:xfrm>
            <a:off x="2441448" y="3968496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2" name="TextBox 31"/>
          <p:cNvSpPr txBox="1"/>
          <p:nvPr/>
        </p:nvSpPr>
        <p:spPr>
          <a:xfrm>
            <a:off x="2697480" y="41696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Box 32"/>
          <p:cNvSpPr txBox="1"/>
          <p:nvPr/>
        </p:nvSpPr>
        <p:spPr>
          <a:xfrm>
            <a:off x="3584448" y="415137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DNS Bug That Broke the Internet</a:t>
            </a:r>
            <a:endParaRPr lang="en-US" sz="1550" dirty="0"/>
          </a:p>
        </p:txBody>
      </p:sp>
      <p:sp>
        <p:nvSpPr>
          <p:cNvPr id="34" name="Straight Connector 33"/>
          <p:cNvSpPr/>
          <p:nvPr/>
        </p:nvSpPr>
        <p:spPr>
          <a:xfrm>
            <a:off x="2715768" y="5010912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35" name="TextBox 34"/>
          <p:cNvSpPr txBox="1"/>
          <p:nvPr/>
        </p:nvSpPr>
        <p:spPr>
          <a:xfrm>
            <a:off x="2715768" y="51297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story on the list. Most of us had an app go down that day.</a:t>
            </a:r>
            <a:endParaRPr lang="en-US" sz="1300" dirty="0"/>
          </a:p>
        </p:txBody>
      </p:sp>
      <p:sp>
        <p:nvSpPr>
          <p:cNvPr id="36" name="Shape 35"/>
          <p:cNvSpPr/>
          <p:nvPr/>
        </p:nvSpPr>
        <p:spPr>
          <a:xfrm>
            <a:off x="6227064" y="3968496"/>
            <a:ext cx="3520440" cy="2084832"/>
          </a:xfrm>
          <a:prstGeom prst="roundRect">
            <a:avLst>
              <a:gd name="adj" fmla="val 6140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7" name="TextBox 36"/>
          <p:cNvSpPr txBox="1"/>
          <p:nvPr/>
        </p:nvSpPr>
        <p:spPr>
          <a:xfrm>
            <a:off x="6483096" y="416966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3600" dirty="0"/>
          </a:p>
        </p:txBody>
      </p:sp>
      <p:sp>
        <p:nvSpPr>
          <p:cNvPr id="38" name="TextBox 37"/>
          <p:cNvSpPr txBox="1"/>
          <p:nvPr/>
        </p:nvSpPr>
        <p:spPr>
          <a:xfrm>
            <a:off x="7370064" y="415137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AI That Writes Your Doctor's Notes</a:t>
            </a:r>
            <a:endParaRPr lang="en-US" sz="1550" dirty="0"/>
          </a:p>
        </p:txBody>
      </p:sp>
      <p:sp>
        <p:nvSpPr>
          <p:cNvPr id="39" name="Straight Connector 38"/>
          <p:cNvSpPr/>
          <p:nvPr/>
        </p:nvSpPr>
        <p:spPr>
          <a:xfrm>
            <a:off x="6501384" y="5010912"/>
            <a:ext cx="2971800" cy="0"/>
          </a:xfrm>
          <a:prstGeom prst="line">
            <a:avLst/>
          </a:prstGeom>
          <a:noFill/>
          <a:ln w="9525">
            <a:solidFill>
              <a:srgbClr val="34418A"/>
            </a:solidFill>
            <a:prstDash val="solid"/>
          </a:ln>
        </p:spPr>
      </p:sp>
      <p:sp>
        <p:nvSpPr>
          <p:cNvPr id="40" name="TextBox 39"/>
          <p:cNvSpPr txBox="1"/>
          <p:nvPr/>
        </p:nvSpPr>
        <p:spPr>
          <a:xfrm>
            <a:off x="6501384" y="51297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 the health-tech people in, and Epic vs. Abridge is a real fight.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Microseconds Are Money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Firms built microwave towers from Chicago to New Jersey because air beats glass fiber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10" y="1474127"/>
            <a:ext cx="5213452" cy="318082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16422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 step of a trade, timed in nanoseconds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98932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621792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626364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time goes: network, kernel, code, exchange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FPGAs, kernel bypass, and why C++ still runs the floor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 firm decides a microsecond is worth building for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98932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21792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Low-latency engineer at Jump, HRT or Optiver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Berkeley EECS alumni at these firms are the easiest ask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does the next microsecond come from?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What did you build in your first month there?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Google's 75% AI Code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Most of Google's new code is now AI-generated. So what do engineers do all day?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90" y="1474127"/>
            <a:ext cx="5213452" cy="3157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4493147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agent's first-draft fix, before review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4864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normal day when an agent writes the first draft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code review, testing and on-call changed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skills matter more now, and which don't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4864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engineer who led an AI coding rollout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Ideally someone who also interviews new grads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 you look for in new grads now?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What would you learn if you were a sophomore today?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Betting on Everything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Kalshi and Polymarket traded $53B in July, more than 10x last September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10" y="1474127"/>
            <a:ext cx="5213452" cy="32584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94003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 contract is a yes or no price between 1¢ and 99¢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98932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621792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626364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Pricing a contract that has never traded before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markets when most of the volume is sports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engines, settlement and the CFTC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98932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21792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Trader or quant on an event-contracts desk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Susquehanna was Kalshi's first institutional market maker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does retail lose the most edge?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Which markets do you refuse to make?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The AWS DNS Bug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empty DNS record inside AWS took down Venmo, Snapchat, Fortnite and Canvas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90" y="1474127"/>
            <a:ext cx="5213452" cy="29946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4330227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Oct 19–20, 2025, from the first alarm to recovery (PDT)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4864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82296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one empty DNS record cascaded for 14 hours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 3am incident call sounds like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Writing a postmortem that doesn't blame a person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4864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or incident commander at a cloud provider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Anyone on call at a big consumer app that day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 you check first when everything is red?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What changed in your runbooks afterward?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Spotlight: The AI Scribe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Epic shipped its own AI charting in February, while Abridge kept growing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10" y="1474127"/>
            <a:ext cx="5213452" cy="32428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4578487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3D8F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the doctor sees after a 15-minute visit</a:t>
            </a:r>
            <a:endParaRPr lang="en-US" sz="1250" dirty="0"/>
          </a:p>
        </p:txBody>
      </p:sp>
      <p:sp>
        <p:nvSpPr>
          <p:cNvPr id="18" name="Shape 17"/>
          <p:cNvSpPr/>
          <p:nvPr/>
        </p:nvSpPr>
        <p:spPr>
          <a:xfrm>
            <a:off x="5989320" y="1536192"/>
            <a:ext cx="5650992" cy="1627632"/>
          </a:xfrm>
          <a:prstGeom prst="roundRect">
            <a:avLst>
              <a:gd name="adj" fmla="val 7865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9" name="Oval 18"/>
          <p:cNvSpPr/>
          <p:nvPr/>
        </p:nvSpPr>
        <p:spPr>
          <a:xfrm>
            <a:off x="6217920" y="171907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105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they'd cover</a:t>
            </a:r>
            <a:endParaRPr 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6263640" y="2249424"/>
            <a:ext cx="5148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Turning a messy 15-minute visit into a clean note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Keeping a doctor in the loop without slowing them down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Epic built its own instead of buying</a:t>
            </a:r>
            <a:endParaRPr lang="en-US" sz="1300" dirty="0"/>
          </a:p>
        </p:txBody>
      </p:sp>
      <p:sp>
        <p:nvSpPr>
          <p:cNvPr id="23" name="Shape 22"/>
          <p:cNvSpPr/>
          <p:nvPr/>
        </p:nvSpPr>
        <p:spPr>
          <a:xfrm>
            <a:off x="5989320" y="3300984"/>
            <a:ext cx="5650992" cy="1444752"/>
          </a:xfrm>
          <a:prstGeom prst="roundRect">
            <a:avLst>
              <a:gd name="adj" fmla="val 8861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217920" y="348386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57530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2280" y="3483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Who to book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6263640" y="4014216"/>
            <a:ext cx="5148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or product engineer at Abridge or a similar startup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Clr>
                <a:srgbClr val="FFFFFF"/>
              </a:buClr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clinical informatics lead at a health system like UCSF</a:t>
            </a:r>
            <a:endParaRPr lang="en-US" sz="1300" dirty="0"/>
          </a:p>
        </p:txBody>
      </p:sp>
      <p:sp>
        <p:nvSpPr>
          <p:cNvPr id="28" name="Shape 27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29" name="Shape 28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Ask Them</a:t>
            </a:r>
            <a:endParaRPr lang="en-US" sz="15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DB51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happens when it mishears a dosage?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Then: How do doctors decide whether to trust it?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DB51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traight Connector 4"/>
          <p:cNvSpPr/>
          <p:nvPr/>
        </p:nvSpPr>
        <p:spPr>
          <a:xfrm>
            <a:off x="731520" y="4681728"/>
            <a:ext cx="822960" cy="0"/>
          </a:xfrm>
          <a:prstGeom prst="line">
            <a:avLst/>
          </a:prstGeom>
          <a:noFill/>
          <a:ln w="25400">
            <a:solidFill>
              <a:srgbClr val="FDB515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658368" y="4846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Next Steps</a:t>
            </a:r>
            <a:endParaRPr lang="en-US" sz="5000" dirty="0"/>
          </a:p>
        </p:txBody>
      </p:sp>
      <p:sp>
        <p:nvSpPr>
          <p:cNvPr id="7" name="Oval 6"/>
          <p:cNvSpPr/>
          <p:nvPr/>
        </p:nvSpPr>
        <p:spPr>
          <a:xfrm>
            <a:off x="6720840" y="4965192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8" name="Straight Connector 7"/>
          <p:cNvSpPr/>
          <p:nvPr/>
        </p:nvSpPr>
        <p:spPr>
          <a:xfrm>
            <a:off x="6995160" y="5102352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8183880" y="49011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Speakers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7178040" y="5623560"/>
            <a:ext cx="274320" cy="2743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1" name="Straight Connector 10"/>
          <p:cNvSpPr/>
          <p:nvPr/>
        </p:nvSpPr>
        <p:spPr>
          <a:xfrm>
            <a:off x="7452360" y="5760720"/>
            <a:ext cx="1005840" cy="0"/>
          </a:xfrm>
          <a:prstGeom prst="line">
            <a:avLst/>
          </a:prstGeom>
          <a:noFill/>
          <a:ln w="15875">
            <a:solidFill>
              <a:srgbClr val="8FA8FF"/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8641080" y="5559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Plan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Finding Speakers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Warm intros first, then engineering blogs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Shape 15"/>
          <p:cNvSpPr/>
          <p:nvPr/>
        </p:nvSpPr>
        <p:spPr>
          <a:xfrm>
            <a:off x="548640" y="187452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1924812" y="149047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431" y="1644091"/>
            <a:ext cx="460858" cy="4608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Alumni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804672" y="2880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 → UC Berkeley → Alumni, then filter by company and "Engineering" or "Finance"</a:t>
            </a:r>
            <a:endParaRPr lang="en-US" sz="1250" dirty="0"/>
          </a:p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older actives who they know. A warm intro gets a yes way faster than a cold DM</a:t>
            </a:r>
            <a:endParaRPr lang="en-US" sz="1250" dirty="0"/>
          </a:p>
        </p:txBody>
      </p:sp>
      <p:sp>
        <p:nvSpPr>
          <p:cNvPr id="21" name="Shape 20"/>
          <p:cNvSpPr/>
          <p:nvPr/>
        </p:nvSpPr>
        <p:spPr>
          <a:xfrm>
            <a:off x="4334256" y="187452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22" name="Oval 21"/>
          <p:cNvSpPr/>
          <p:nvPr/>
        </p:nvSpPr>
        <p:spPr>
          <a:xfrm>
            <a:off x="5710428" y="149047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047" y="1644091"/>
            <a:ext cx="460858" cy="4608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34256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LinkedIn Search</a:t>
            </a:r>
            <a:endParaRPr lang="en-US" sz="1600" dirty="0"/>
          </a:p>
        </p:txBody>
      </p:sp>
      <p:sp>
        <p:nvSpPr>
          <p:cNvPr id="25" name="Shape 24"/>
          <p:cNvSpPr/>
          <p:nvPr/>
        </p:nvSpPr>
        <p:spPr>
          <a:xfrm>
            <a:off x="4562856" y="2898648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F1740"/>
          </a:solidFill>
          <a:ln w="9525">
            <a:solidFill>
              <a:srgbClr val="34418A"/>
            </a:solidFill>
            <a:prstDash val="solid"/>
          </a:ln>
        </p:spPr>
      </p:sp>
      <p:sp>
        <p:nvSpPr>
          <p:cNvPr id="26" name="TextBox 25"/>
          <p:cNvSpPr txBox="1"/>
          <p:nvPr/>
        </p:nvSpPr>
        <p:spPr>
          <a:xfrm>
            <a:off x="4681728" y="2898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"low latency" AND FPGA AND Berkeley</a:t>
            </a:r>
            <a:endParaRPr lang="en-US" sz="1050" dirty="0"/>
          </a:p>
        </p:txBody>
      </p:sp>
      <p:sp>
        <p:nvSpPr>
          <p:cNvPr id="27" name="Shape 26"/>
          <p:cNvSpPr/>
          <p:nvPr/>
        </p:nvSpPr>
        <p:spPr>
          <a:xfrm>
            <a:off x="4562856" y="3465576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F1740"/>
          </a:solidFill>
          <a:ln w="9525">
            <a:solidFill>
              <a:srgbClr val="34418A"/>
            </a:solidFill>
            <a:prstDash val="solid"/>
          </a:ln>
        </p:spPr>
      </p:sp>
      <p:sp>
        <p:nvSpPr>
          <p:cNvPr id="28" name="TextBox 27"/>
          <p:cNvSpPr txBox="1"/>
          <p:nvPr/>
        </p:nvSpPr>
        <p:spPr>
          <a:xfrm>
            <a:off x="4681728" y="34655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"site reliability" AND Berkeley</a:t>
            </a:r>
            <a:endParaRPr lang="en-US" sz="1050" dirty="0"/>
          </a:p>
        </p:txBody>
      </p:sp>
      <p:sp>
        <p:nvSpPr>
          <p:cNvPr id="29" name="Shape 28"/>
          <p:cNvSpPr/>
          <p:nvPr/>
        </p:nvSpPr>
        <p:spPr>
          <a:xfrm>
            <a:off x="4562856" y="4032504"/>
            <a:ext cx="3063240" cy="457200"/>
          </a:xfrm>
          <a:prstGeom prst="roundRect">
            <a:avLst>
              <a:gd name="adj" fmla="val 14000"/>
            </a:avLst>
          </a:prstGeom>
          <a:solidFill>
            <a:srgbClr val="0F1740"/>
          </a:solidFill>
          <a:ln w="9525">
            <a:solidFill>
              <a:srgbClr val="34418A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4681728" y="40325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"ambient" AND engineer AND health</a:t>
            </a:r>
            <a:endParaRPr lang="en-US" sz="1050" dirty="0"/>
          </a:p>
        </p:txBody>
      </p:sp>
      <p:sp>
        <p:nvSpPr>
          <p:cNvPr id="31" name="Shape 30"/>
          <p:cNvSpPr/>
          <p:nvPr/>
        </p:nvSpPr>
        <p:spPr>
          <a:xfrm>
            <a:off x="8119872" y="187452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6205C"/>
          </a:solidFill>
          <a:ln w="12700">
            <a:solidFill>
              <a:srgbClr val="4F63D9"/>
            </a:solidFill>
            <a:prstDash val="solid"/>
          </a:ln>
        </p:spPr>
      </p:sp>
      <p:sp>
        <p:nvSpPr>
          <p:cNvPr id="32" name="Oval 31"/>
          <p:cNvSpPr/>
          <p:nvPr/>
        </p:nvSpPr>
        <p:spPr>
          <a:xfrm>
            <a:off x="9496044" y="149047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DB51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9663" y="1644091"/>
            <a:ext cx="460858" cy="46085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19872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Engineering Blogs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8375904" y="2880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someone wrote the engineering post, they already have the talk</a:t>
            </a:r>
            <a:endParaRPr lang="en-US" sz="1250" dirty="0"/>
          </a:p>
          <a:p>
            <a:pPr marL="177800" indent="-177800">
              <a:spcAft>
                <a:spcPts val="900"/>
              </a:spcAft>
              <a:buClr>
                <a:srgbClr val="FFFFFF"/>
              </a:buClr>
              <a:buSzPct val="100000"/>
              <a:buChar char="•"/>
            </a:pPr>
            <a:r>
              <a:rPr lang="en-US" sz="125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Discord, Cloudflare, Stripe, Jane Street, HRT and OpenAI all name their authors</a:t>
            </a:r>
            <a:endParaRPr lang="en-US" sz="1250" dirty="0"/>
          </a:p>
        </p:txBody>
      </p:sp>
      <p:sp>
        <p:nvSpPr>
          <p:cNvPr id="36" name="Shape 35"/>
          <p:cNvSpPr/>
          <p:nvPr/>
        </p:nvSpPr>
        <p:spPr>
          <a:xfrm>
            <a:off x="548640" y="513892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E2C72"/>
          </a:solidFill>
          <a:ln w="12700">
            <a:solidFill>
              <a:srgbClr val="1E2C72"/>
            </a:solidFill>
            <a:prstDash val="solid"/>
          </a:ln>
        </p:spPr>
      </p:sp>
      <p:sp>
        <p:nvSpPr>
          <p:cNvPr id="37" name="Shape 36"/>
          <p:cNvSpPr/>
          <p:nvPr/>
        </p:nvSpPr>
        <p:spPr>
          <a:xfrm>
            <a:off x="493776" y="4956048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38" name="TextBox 37"/>
          <p:cNvSpPr txBox="1"/>
          <p:nvPr/>
        </p:nvSpPr>
        <p:spPr>
          <a:xfrm>
            <a:off x="548640" y="495604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4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Sample DM</a:t>
            </a:r>
            <a:endParaRPr lang="en-US" sz="1500" dirty="0"/>
          </a:p>
        </p:txBody>
      </p:sp>
      <p:sp>
        <p:nvSpPr>
          <p:cNvPr id="39" name="TextBox 38"/>
          <p:cNvSpPr txBox="1"/>
          <p:nvPr/>
        </p:nvSpPr>
        <p:spPr>
          <a:xfrm>
            <a:off x="868680" y="54132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"Hi Sam, I'm in AEZ at Berkeley and loved your post on moving your message store to ScyllaDB. Would you give a 30-minute talk to about 40 students who want to do this kind of work? Zoom or in person, any week this fall."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/>
          <p:nvPr/>
        </p:nvSpPr>
        <p:spPr>
          <a:xfrm>
            <a:off x="502920" y="384048"/>
            <a:ext cx="0" cy="8686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31520" y="274320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Plan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CE0F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happens after this meeting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743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367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DB51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AEZ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201168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</a:t>
            </a:r>
            <a:endParaRPr lang="en-US" sz="1150" dirty="0"/>
          </a:p>
        </p:txBody>
      </p:sp>
      <p:sp>
        <p:nvSpPr>
          <p:cNvPr id="8" name="Straight Connector 7"/>
          <p:cNvSpPr/>
          <p:nvPr/>
        </p:nvSpPr>
        <p:spPr>
          <a:xfrm>
            <a:off x="393192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93192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&amp; Quant</a:t>
            </a:r>
            <a:endParaRPr lang="en-US" sz="1150" dirty="0"/>
          </a:p>
        </p:txBody>
      </p:sp>
      <p:sp>
        <p:nvSpPr>
          <p:cNvPr id="10" name="Straight Connector 9"/>
          <p:cNvSpPr/>
          <p:nvPr/>
        </p:nvSpPr>
        <p:spPr>
          <a:xfrm>
            <a:off x="585216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585216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Tech</a:t>
            </a:r>
            <a:endParaRPr lang="en-US" sz="1150" dirty="0"/>
          </a:p>
        </p:txBody>
      </p:sp>
      <p:sp>
        <p:nvSpPr>
          <p:cNvPr id="12" name="Straight Connector 11"/>
          <p:cNvSpPr/>
          <p:nvPr/>
        </p:nvSpPr>
        <p:spPr>
          <a:xfrm>
            <a:off x="777240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3" name="TextBox 12"/>
          <p:cNvSpPr txBox="1"/>
          <p:nvPr/>
        </p:nvSpPr>
        <p:spPr>
          <a:xfrm>
            <a:off x="777240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3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Picks</a:t>
            </a:r>
            <a:endParaRPr lang="en-US" sz="1150" dirty="0"/>
          </a:p>
        </p:txBody>
      </p:sp>
      <p:sp>
        <p:nvSpPr>
          <p:cNvPr id="14" name="Straight Connector 13"/>
          <p:cNvSpPr/>
          <p:nvPr/>
        </p:nvSpPr>
        <p:spPr>
          <a:xfrm>
            <a:off x="9692640" y="6373368"/>
            <a:ext cx="0" cy="256032"/>
          </a:xfrm>
          <a:prstGeom prst="line">
            <a:avLst/>
          </a:prstGeom>
          <a:noFill/>
          <a:ln w="12700">
            <a:solidFill>
              <a:srgbClr val="34418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9692640" y="6355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6" name="Oval 15"/>
          <p:cNvSpPr/>
          <p:nvPr/>
        </p:nvSpPr>
        <p:spPr>
          <a:xfrm>
            <a:off x="1645920" y="1947672"/>
            <a:ext cx="960120" cy="9601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17" name="Oval 16"/>
          <p:cNvSpPr/>
          <p:nvPr/>
        </p:nvSpPr>
        <p:spPr>
          <a:xfrm>
            <a:off x="1691640" y="2404872"/>
            <a:ext cx="1005840" cy="1005840"/>
          </a:xfrm>
          <a:prstGeom prst="ellipse">
            <a:avLst/>
          </a:prstGeom>
          <a:solidFill>
            <a:srgbClr val="3056D3"/>
          </a:solidFill>
          <a:ln w="12700">
            <a:solidFill>
              <a:srgbClr val="3056D3"/>
            </a:solidFill>
            <a:prstDash val="solid"/>
          </a:ln>
        </p:spPr>
      </p:sp>
      <p:sp>
        <p:nvSpPr>
          <p:cNvPr id="18" name="Oval 17"/>
          <p:cNvSpPr/>
          <p:nvPr/>
        </p:nvSpPr>
        <p:spPr>
          <a:xfrm>
            <a:off x="2377440" y="2258568"/>
            <a:ext cx="566928" cy="566928"/>
          </a:xfrm>
          <a:prstGeom prst="ellipse">
            <a:avLst/>
          </a:prstGeom>
          <a:solidFill>
            <a:srgbClr val="8C95B8">
              <a:alpha val="55000"/>
            </a:srgbClr>
          </a:solidFill>
          <a:ln w="12700">
            <a:solidFill>
              <a:srgbClr val="8C95B8"/>
            </a:solidFill>
            <a:prstDash val="solid"/>
          </a:ln>
        </p:spPr>
      </p:sp>
      <p:sp>
        <p:nvSpPr>
          <p:cNvPr id="19" name="TextBox 18"/>
          <p:cNvSpPr txBox="1"/>
          <p:nvPr/>
        </p:nvSpPr>
        <p:spPr>
          <a:xfrm>
            <a:off x="150876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Vote for your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3 talks</a:t>
            </a:r>
            <a:endParaRPr lang="en-US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365760" y="4709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 goes out after this meeting</a:t>
            </a:r>
            <a:endParaRPr lang="en-US" sz="1500" dirty="0"/>
          </a:p>
        </p:txBody>
      </p:sp>
      <p:sp>
        <p:nvSpPr>
          <p:cNvPr id="22" name="Oval 21"/>
          <p:cNvSpPr/>
          <p:nvPr/>
        </p:nvSpPr>
        <p:spPr>
          <a:xfrm>
            <a:off x="5577840" y="1947672"/>
            <a:ext cx="960120" cy="9601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3" name="Oval 22"/>
          <p:cNvSpPr/>
          <p:nvPr/>
        </p:nvSpPr>
        <p:spPr>
          <a:xfrm>
            <a:off x="5623560" y="2404872"/>
            <a:ext cx="1005840" cy="1005840"/>
          </a:xfrm>
          <a:prstGeom prst="ellipse">
            <a:avLst/>
          </a:prstGeom>
          <a:solidFill>
            <a:srgbClr val="3056D3"/>
          </a:solidFill>
          <a:ln w="12700">
            <a:solidFill>
              <a:srgbClr val="3056D3"/>
            </a:solidFill>
            <a:prstDash val="solid"/>
          </a:ln>
        </p:spPr>
      </p:sp>
      <p:sp>
        <p:nvSpPr>
          <p:cNvPr id="24" name="Oval 23"/>
          <p:cNvSpPr/>
          <p:nvPr/>
        </p:nvSpPr>
        <p:spPr>
          <a:xfrm>
            <a:off x="6309360" y="2258568"/>
            <a:ext cx="566928" cy="566928"/>
          </a:xfrm>
          <a:prstGeom prst="ellipse">
            <a:avLst/>
          </a:prstGeom>
          <a:solidFill>
            <a:srgbClr val="8C95B8">
              <a:alpha val="55000"/>
            </a:srgbClr>
          </a:solidFill>
          <a:ln w="12700">
            <a:solidFill>
              <a:srgbClr val="8C95B8"/>
            </a:solidFill>
            <a:prstDash val="solid"/>
          </a:ln>
        </p:spPr>
      </p:sp>
      <p:sp>
        <p:nvSpPr>
          <p:cNvPr id="25" name="TextBox 24"/>
          <p:cNvSpPr txBox="1"/>
          <p:nvPr/>
        </p:nvSpPr>
        <p:spPr>
          <a:xfrm>
            <a:off x="544068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6400" dirty="0"/>
          </a:p>
        </p:txBody>
      </p:sp>
      <p:sp>
        <p:nvSpPr>
          <p:cNvPr id="26" name="TextBox 25"/>
          <p:cNvSpPr txBox="1"/>
          <p:nvPr/>
        </p:nvSpPr>
        <p:spPr>
          <a:xfrm>
            <a:off x="434340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Reach out,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alumni first</a:t>
            </a:r>
            <a:endParaRPr lang="en-US" sz="2200" dirty="0"/>
          </a:p>
        </p:txBody>
      </p:sp>
      <p:sp>
        <p:nvSpPr>
          <p:cNvPr id="27" name="TextBox 26"/>
          <p:cNvSpPr txBox="1"/>
          <p:nvPr/>
        </p:nvSpPr>
        <p:spPr>
          <a:xfrm>
            <a:off x="4297680" y="4709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 chairs DM alumni first</a:t>
            </a:r>
            <a:endParaRPr lang="en-US" sz="1500" dirty="0"/>
          </a:p>
        </p:txBody>
      </p:sp>
      <p:sp>
        <p:nvSpPr>
          <p:cNvPr id="28" name="Oval 27"/>
          <p:cNvSpPr/>
          <p:nvPr/>
        </p:nvSpPr>
        <p:spPr>
          <a:xfrm>
            <a:off x="9509760" y="1947672"/>
            <a:ext cx="960120" cy="96012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</p:sp>
      <p:sp>
        <p:nvSpPr>
          <p:cNvPr id="29" name="Oval 28"/>
          <p:cNvSpPr/>
          <p:nvPr/>
        </p:nvSpPr>
        <p:spPr>
          <a:xfrm>
            <a:off x="9555480" y="2404872"/>
            <a:ext cx="1005840" cy="1005840"/>
          </a:xfrm>
          <a:prstGeom prst="ellipse">
            <a:avLst/>
          </a:prstGeom>
          <a:solidFill>
            <a:srgbClr val="3056D3"/>
          </a:solidFill>
          <a:ln w="12700">
            <a:solidFill>
              <a:srgbClr val="3056D3"/>
            </a:solidFill>
            <a:prstDash val="solid"/>
          </a:ln>
        </p:spPr>
      </p:sp>
      <p:sp>
        <p:nvSpPr>
          <p:cNvPr id="30" name="Oval 29"/>
          <p:cNvSpPr/>
          <p:nvPr/>
        </p:nvSpPr>
        <p:spPr>
          <a:xfrm>
            <a:off x="10241280" y="2258568"/>
            <a:ext cx="566928" cy="566928"/>
          </a:xfrm>
          <a:prstGeom prst="ellipse">
            <a:avLst/>
          </a:prstGeom>
          <a:solidFill>
            <a:srgbClr val="8C95B8">
              <a:alpha val="55000"/>
            </a:srgbClr>
          </a:solidFill>
          <a:ln w="12700">
            <a:solidFill>
              <a:srgbClr val="8C95B8"/>
            </a:solidFill>
            <a:prstDash val="solid"/>
          </a:ln>
        </p:spPr>
      </p:sp>
      <p:sp>
        <p:nvSpPr>
          <p:cNvPr id="31" name="TextBox 30"/>
          <p:cNvSpPr txBox="1"/>
          <p:nvPr/>
        </p:nvSpPr>
        <p:spPr>
          <a:xfrm>
            <a:off x="937260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6400" dirty="0"/>
          </a:p>
        </p:txBody>
      </p:sp>
      <p:sp>
        <p:nvSpPr>
          <p:cNvPr id="32" name="TextBox 31"/>
          <p:cNvSpPr txBox="1"/>
          <p:nvPr/>
        </p:nvSpPr>
        <p:spPr>
          <a:xfrm>
            <a:off x="827532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four talks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semester</a:t>
            </a:r>
            <a:endParaRPr lang="en-US" sz="2200" dirty="0"/>
          </a:p>
        </p:txBody>
      </p:sp>
      <p:sp>
        <p:nvSpPr>
          <p:cNvPr id="33" name="TextBox 32"/>
          <p:cNvSpPr txBox="1"/>
          <p:nvPr/>
        </p:nvSpPr>
        <p:spPr>
          <a:xfrm>
            <a:off x="8229600" y="4709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one talk every three weeks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AEZ Speaker Series, Fall 2026</dc:title>
  <dc:subject/>
  <dc:creator/>
  <cp:lastModifiedBy/>
  <cp:revision>1</cp:revision>
  <dcterms:created xsi:type="dcterms:W3CDTF">2026-09-24T09:29:14Z</dcterms:created>
  <dcterms:modified xsi:type="dcterms:W3CDTF">2026-09-24T09:29:14Z</dcterms:modified>
</cp:coreProperties>
</file>